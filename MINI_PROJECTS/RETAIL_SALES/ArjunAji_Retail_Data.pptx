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5.xml" ContentType="application/vnd.openxmlformats-officedocument.presentationml.notesSlide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70" r:id="rId9"/>
    <p:sldId id="262" r:id="rId10"/>
    <p:sldId id="271" r:id="rId11"/>
    <p:sldId id="263" r:id="rId12"/>
    <p:sldId id="272" r:id="rId13"/>
    <p:sldId id="264" r:id="rId14"/>
    <p:sldId id="273" r:id="rId15"/>
    <p:sldId id="265" r:id="rId16"/>
    <p:sldId id="274" r:id="rId17"/>
    <p:sldId id="269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2"/>
    <p:restoredTop sz="94631"/>
  </p:normalViewPr>
  <p:slideViewPr>
    <p:cSldViewPr snapToGrid="0">
      <p:cViewPr varScale="1">
        <p:scale>
          <a:sx n="120" d="100"/>
          <a:sy n="120" d="100"/>
        </p:scale>
        <p:origin x="18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E3ABDECF0F8B704B/Documents/Retailpro1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3ABDECF0F8B704B/Documents/Retailpro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 after discount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9EB3C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58E5-2B4C-8CD3-A6CCFD65CE12}"/>
              </c:ext>
            </c:extLst>
          </c:dPt>
          <c:dPt>
            <c:idx val="1"/>
            <c:invertIfNegative val="1"/>
            <c:bubble3D val="0"/>
            <c:spPr>
              <a:solidFill>
                <a:srgbClr val="44769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58E5-2B4C-8CD3-A6CCFD65CE12}"/>
              </c:ext>
            </c:extLst>
          </c:dPt>
          <c:dPt>
            <c:idx val="2"/>
            <c:invertIfNegative val="1"/>
            <c:bubble3D val="0"/>
            <c:spPr>
              <a:solidFill>
                <a:srgbClr val="142D4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58E5-2B4C-8CD3-A6CCFD65CE12}"/>
              </c:ext>
            </c:extLst>
          </c:dPt>
          <c:dLbls>
            <c:numFmt formatCode="&quot;₹&quot;0.0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142D4E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Cancelled + Returned</c:v>
                </c:pt>
                <c:pt idx="1">
                  <c:v>Shipped + Processing</c:v>
                </c:pt>
                <c:pt idx="2">
                  <c:v>Delivered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15550693.85</c:v>
                </c:pt>
                <c:pt idx="1">
                  <c:v>28107119.530000001</c:v>
                </c:pt>
                <c:pt idx="2">
                  <c:v>122722385.245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8E5-2B4C-8CD3-A6CCFD65CE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00"/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50000000"/>
          <c:min val="0"/>
        </c:scaling>
        <c:delete val="0"/>
        <c:axPos val="b"/>
        <c:numFmt formatCode="&quot;₹&quot;0,,&quot;M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  <a:endParaRPr lang="en-US"/>
          </a:p>
        </c:txPr>
        <c:crossAx val="2068027336"/>
        <c:crosses val="autoZero"/>
        <c:crossBetween val="between"/>
        <c:majorUnit val="50000000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42D4E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[Retailpro1.xlsx]Monthly_revenue!PivotTable4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solidFill>
                  <a:schemeClr val="tx1"/>
                </a:solidFill>
              </a:rPr>
              <a:t>MONTHLY</a:t>
            </a:r>
            <a:r>
              <a:rPr lang="en-GB" b="1" baseline="0">
                <a:solidFill>
                  <a:schemeClr val="tx1"/>
                </a:solidFill>
              </a:rPr>
              <a:t> REVENUE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tx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tx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tx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Monthly_revenue!$B$3</c:f>
              <c:strCache>
                <c:ptCount val="1"/>
                <c:pt idx="0">
                  <c:v>Sum of Revenue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multiLvlStrRef>
              <c:f>Monthly_revenue!$A$4:$A$30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  <c:lvl>
                  <c:pt idx="0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Monthly_revenue!$B$4:$B$30</c:f>
              <c:numCache>
                <c:formatCode>"₹"#,##0.00</c:formatCode>
                <c:ptCount val="24"/>
                <c:pt idx="0">
                  <c:v>7841430.9799999995</c:v>
                </c:pt>
                <c:pt idx="1">
                  <c:v>7222315.8400000008</c:v>
                </c:pt>
                <c:pt idx="2">
                  <c:v>7764173.7499999944</c:v>
                </c:pt>
                <c:pt idx="3">
                  <c:v>7731763.799999997</c:v>
                </c:pt>
                <c:pt idx="4">
                  <c:v>7618950.4600000018</c:v>
                </c:pt>
                <c:pt idx="5">
                  <c:v>6670453.9999999981</c:v>
                </c:pt>
                <c:pt idx="6">
                  <c:v>7034860.8350000018</c:v>
                </c:pt>
                <c:pt idx="7">
                  <c:v>6939754.0400000056</c:v>
                </c:pt>
                <c:pt idx="8">
                  <c:v>6375316.9350000042</c:v>
                </c:pt>
                <c:pt idx="9">
                  <c:v>6185475.4299999969</c:v>
                </c:pt>
                <c:pt idx="10">
                  <c:v>6230412.2750000032</c:v>
                </c:pt>
                <c:pt idx="11">
                  <c:v>6473579.9050000003</c:v>
                </c:pt>
                <c:pt idx="12">
                  <c:v>6034500.349999995</c:v>
                </c:pt>
                <c:pt idx="13">
                  <c:v>5355565.3599999882</c:v>
                </c:pt>
                <c:pt idx="14">
                  <c:v>6210594.8049999969</c:v>
                </c:pt>
                <c:pt idx="15">
                  <c:v>6320310.1899999976</c:v>
                </c:pt>
                <c:pt idx="16">
                  <c:v>6315923.4150000056</c:v>
                </c:pt>
                <c:pt idx="17">
                  <c:v>6253410.775000006</c:v>
                </c:pt>
                <c:pt idx="18">
                  <c:v>6924156.190000006</c:v>
                </c:pt>
                <c:pt idx="19">
                  <c:v>7592882.5899999971</c:v>
                </c:pt>
                <c:pt idx="20">
                  <c:v>7429079.0049999999</c:v>
                </c:pt>
                <c:pt idx="21">
                  <c:v>7616654.04</c:v>
                </c:pt>
                <c:pt idx="22">
                  <c:v>7708084.8050000044</c:v>
                </c:pt>
                <c:pt idx="23">
                  <c:v>8530548.8499999996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C6-F346-B714-E24D69143547}"/>
            </c:ext>
          </c:extLst>
        </c:ser>
        <c:ser>
          <c:idx val="1"/>
          <c:order val="1"/>
          <c:tx>
            <c:strRef>
              <c:f>Monthly_revenue!$C$3</c:f>
              <c:strCache>
                <c:ptCount val="1"/>
                <c:pt idx="0">
                  <c:v>No of Orders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multiLvlStrRef>
              <c:f>Monthly_revenue!$A$4:$A$30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  <c:lvl>
                  <c:pt idx="0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Monthly_revenue!$C$4:$C$30</c:f>
              <c:numCache>
                <c:formatCode>General</c:formatCode>
                <c:ptCount val="24"/>
                <c:pt idx="0">
                  <c:v>212.9999999999996</c:v>
                </c:pt>
                <c:pt idx="1">
                  <c:v>200.99999999999977</c:v>
                </c:pt>
                <c:pt idx="2">
                  <c:v>213.99999999999957</c:v>
                </c:pt>
                <c:pt idx="3">
                  <c:v>206.99999999999963</c:v>
                </c:pt>
                <c:pt idx="4">
                  <c:v>213.99999999999966</c:v>
                </c:pt>
                <c:pt idx="5">
                  <c:v>206.99999999999957</c:v>
                </c:pt>
                <c:pt idx="6">
                  <c:v>211.99999999999952</c:v>
                </c:pt>
                <c:pt idx="7">
                  <c:v>210.99999999999972</c:v>
                </c:pt>
                <c:pt idx="8">
                  <c:v>204.99999999999966</c:v>
                </c:pt>
                <c:pt idx="9">
                  <c:v>210.99999999999977</c:v>
                </c:pt>
                <c:pt idx="10">
                  <c:v>204.99999999999972</c:v>
                </c:pt>
                <c:pt idx="11">
                  <c:v>210.99999999999955</c:v>
                </c:pt>
                <c:pt idx="12">
                  <c:v>210.99999999999977</c:v>
                </c:pt>
                <c:pt idx="13">
                  <c:v>190.99999999999977</c:v>
                </c:pt>
                <c:pt idx="14">
                  <c:v>211.99999999999966</c:v>
                </c:pt>
                <c:pt idx="15">
                  <c:v>203.99999999999974</c:v>
                </c:pt>
                <c:pt idx="16">
                  <c:v>210.99999999999966</c:v>
                </c:pt>
                <c:pt idx="17">
                  <c:v>204.99999999999972</c:v>
                </c:pt>
                <c:pt idx="18">
                  <c:v>210.99999999999977</c:v>
                </c:pt>
                <c:pt idx="19">
                  <c:v>211.99999999999955</c:v>
                </c:pt>
                <c:pt idx="20">
                  <c:v>203.99999999999963</c:v>
                </c:pt>
                <c:pt idx="21">
                  <c:v>211.99999999999977</c:v>
                </c:pt>
                <c:pt idx="22">
                  <c:v>203.99999999999963</c:v>
                </c:pt>
                <c:pt idx="23">
                  <c:v>211.99999999999966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CC6-F346-B714-E24D691435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4096447"/>
        <c:axId val="247221759"/>
      </c:lineChart>
      <c:catAx>
        <c:axId val="6409644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YEAR-MONTH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221759"/>
        <c:crosses val="autoZero"/>
        <c:auto val="1"/>
        <c:lblAlgn val="ctr"/>
        <c:lblOffset val="100"/>
        <c:noMultiLvlLbl val="0"/>
      </c:catAx>
      <c:valAx>
        <c:axId val="247221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096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[Retailpro1.xlsx]MONTHLY_REVENUE V S ORDERS!PivotTable2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 b="1">
                <a:solidFill>
                  <a:schemeClr val="tx1"/>
                </a:solidFill>
              </a:rPr>
              <a:t>REVENUE</a:t>
            </a:r>
            <a:r>
              <a:rPr lang="en-GB" b="1" baseline="0">
                <a:solidFill>
                  <a:schemeClr val="tx1"/>
                </a:solidFill>
              </a:rPr>
              <a:t> VS ORDERS</a:t>
            </a:r>
            <a:endParaRPr lang="en-GB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rgbClr val="00B05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'MONTHLY_REVENUE V S ORDERS'!$B$3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multiLvlStrRef>
              <c:f>'MONTHLY_REVENUE V S ORDERS'!$A$4:$A$30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  <c:lvl>
                  <c:pt idx="0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'MONTHLY_REVENUE V S ORDERS'!$B$4:$B$30</c:f>
              <c:numCache>
                <c:formatCode>"₹"#,##0.00</c:formatCode>
                <c:ptCount val="24"/>
                <c:pt idx="0">
                  <c:v>7841430.9799999995</c:v>
                </c:pt>
                <c:pt idx="1">
                  <c:v>7222315.8400000008</c:v>
                </c:pt>
                <c:pt idx="2">
                  <c:v>7764173.7499999944</c:v>
                </c:pt>
                <c:pt idx="3">
                  <c:v>7731763.799999997</c:v>
                </c:pt>
                <c:pt idx="4">
                  <c:v>7618950.4600000018</c:v>
                </c:pt>
                <c:pt idx="5">
                  <c:v>6670453.9999999981</c:v>
                </c:pt>
                <c:pt idx="6">
                  <c:v>7034860.8350000018</c:v>
                </c:pt>
                <c:pt idx="7">
                  <c:v>6939754.0400000056</c:v>
                </c:pt>
                <c:pt idx="8">
                  <c:v>6375316.9350000042</c:v>
                </c:pt>
                <c:pt idx="9">
                  <c:v>6185475.4299999969</c:v>
                </c:pt>
                <c:pt idx="10">
                  <c:v>6230412.2750000032</c:v>
                </c:pt>
                <c:pt idx="11">
                  <c:v>6473579.9050000003</c:v>
                </c:pt>
                <c:pt idx="12">
                  <c:v>6034500.349999995</c:v>
                </c:pt>
                <c:pt idx="13">
                  <c:v>5355565.3599999882</c:v>
                </c:pt>
                <c:pt idx="14">
                  <c:v>6210594.8049999969</c:v>
                </c:pt>
                <c:pt idx="15">
                  <c:v>6320310.1899999976</c:v>
                </c:pt>
                <c:pt idx="16">
                  <c:v>6315923.4150000056</c:v>
                </c:pt>
                <c:pt idx="17">
                  <c:v>6253410.775000006</c:v>
                </c:pt>
                <c:pt idx="18">
                  <c:v>6924156.190000006</c:v>
                </c:pt>
                <c:pt idx="19">
                  <c:v>7592882.5899999971</c:v>
                </c:pt>
                <c:pt idx="20">
                  <c:v>7429079.0049999999</c:v>
                </c:pt>
                <c:pt idx="21">
                  <c:v>7616654.04</c:v>
                </c:pt>
                <c:pt idx="22">
                  <c:v>7708084.8050000044</c:v>
                </c:pt>
                <c:pt idx="23">
                  <c:v>8530548.8499999996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D2-4D4C-8D29-0921250F4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1851391"/>
        <c:axId val="479406143"/>
      </c:barChart>
      <c:lineChart>
        <c:grouping val="standard"/>
        <c:varyColors val="0"/>
        <c:ser>
          <c:idx val="1"/>
          <c:order val="1"/>
          <c:tx>
            <c:strRef>
              <c:f>'MONTHLY_REVENUE V S ORDERS'!$C$3</c:f>
              <c:strCache>
                <c:ptCount val="1"/>
                <c:pt idx="0">
                  <c:v>ORDERS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multiLvlStrRef>
              <c:f>'MONTHLY_REVENUE V S ORDERS'!$A$4:$A$30</c:f>
              <c:multiLvlStrCache>
                <c:ptCount val="2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</c:v>
                  </c:pt>
                </c:lvl>
                <c:lvl>
                  <c:pt idx="0">
                    <c:v>2024</c:v>
                  </c:pt>
                  <c:pt idx="12">
                    <c:v>2025</c:v>
                  </c:pt>
                </c:lvl>
              </c:multiLvlStrCache>
            </c:multiLvlStrRef>
          </c:cat>
          <c:val>
            <c:numRef>
              <c:f>'MONTHLY_REVENUE V S ORDERS'!$C$4:$C$30</c:f>
              <c:numCache>
                <c:formatCode>General</c:formatCode>
                <c:ptCount val="24"/>
                <c:pt idx="0">
                  <c:v>212.9999999999996</c:v>
                </c:pt>
                <c:pt idx="1">
                  <c:v>200.99999999999977</c:v>
                </c:pt>
                <c:pt idx="2">
                  <c:v>213.99999999999957</c:v>
                </c:pt>
                <c:pt idx="3">
                  <c:v>206.99999999999963</c:v>
                </c:pt>
                <c:pt idx="4">
                  <c:v>213.99999999999966</c:v>
                </c:pt>
                <c:pt idx="5">
                  <c:v>206.99999999999957</c:v>
                </c:pt>
                <c:pt idx="6">
                  <c:v>211.99999999999952</c:v>
                </c:pt>
                <c:pt idx="7">
                  <c:v>210.99999999999972</c:v>
                </c:pt>
                <c:pt idx="8">
                  <c:v>204.99999999999966</c:v>
                </c:pt>
                <c:pt idx="9">
                  <c:v>210.99999999999977</c:v>
                </c:pt>
                <c:pt idx="10">
                  <c:v>204.99999999999972</c:v>
                </c:pt>
                <c:pt idx="11">
                  <c:v>210.99999999999955</c:v>
                </c:pt>
                <c:pt idx="12">
                  <c:v>210.99999999999977</c:v>
                </c:pt>
                <c:pt idx="13">
                  <c:v>190.99999999999977</c:v>
                </c:pt>
                <c:pt idx="14">
                  <c:v>211.99999999999966</c:v>
                </c:pt>
                <c:pt idx="15">
                  <c:v>203.99999999999974</c:v>
                </c:pt>
                <c:pt idx="16">
                  <c:v>210.99999999999966</c:v>
                </c:pt>
                <c:pt idx="17">
                  <c:v>204.99999999999972</c:v>
                </c:pt>
                <c:pt idx="18">
                  <c:v>210.99999999999977</c:v>
                </c:pt>
                <c:pt idx="19">
                  <c:v>211.99999999999955</c:v>
                </c:pt>
                <c:pt idx="20">
                  <c:v>203.99999999999963</c:v>
                </c:pt>
                <c:pt idx="21">
                  <c:v>211.99999999999977</c:v>
                </c:pt>
                <c:pt idx="22">
                  <c:v>203.99999999999963</c:v>
                </c:pt>
                <c:pt idx="23">
                  <c:v>211.99999999999966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D2-4D4C-8D29-0921250F48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257791"/>
        <c:axId val="472258239"/>
      </c:lineChart>
      <c:catAx>
        <c:axId val="4818513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YEAR-MONTH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9406143"/>
        <c:crosses val="autoZero"/>
        <c:auto val="1"/>
        <c:lblAlgn val="ctr"/>
        <c:lblOffset val="100"/>
        <c:noMultiLvlLbl val="0"/>
      </c:catAx>
      <c:valAx>
        <c:axId val="4794061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1851391"/>
        <c:crosses val="autoZero"/>
        <c:crossBetween val="between"/>
      </c:valAx>
      <c:valAx>
        <c:axId val="472258239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2257791"/>
        <c:crosses val="max"/>
        <c:crossBetween val="between"/>
      </c:valAx>
      <c:catAx>
        <c:axId val="47225779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225823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[Retailpro1.xlsx]Category_Performance!PivotTable5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CATOGORY</a:t>
            </a:r>
            <a:r>
              <a:rPr lang="en-GB" baseline="0"/>
              <a:t> ANALYSIS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7000">
                <a:schemeClr val="accent3">
                  <a:lumMod val="40000"/>
                  <a:lumOff val="60000"/>
                </a:schemeClr>
              </a:gs>
              <a:gs pos="20000">
                <a:schemeClr val="accent3">
                  <a:lumMod val="95000"/>
                  <a:lumOff val="5000"/>
                </a:schemeClr>
              </a:gs>
              <a:gs pos="85000">
                <a:schemeClr val="tx1"/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2">
                  <a:lumMod val="10000"/>
                  <a:lumOff val="90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7000">
                <a:schemeClr val="accent3">
                  <a:lumMod val="40000"/>
                  <a:lumOff val="60000"/>
                </a:schemeClr>
              </a:gs>
              <a:gs pos="20000">
                <a:schemeClr val="accent3">
                  <a:lumMod val="95000"/>
                  <a:lumOff val="5000"/>
                </a:schemeClr>
              </a:gs>
              <a:gs pos="85000">
                <a:schemeClr val="tx1"/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1750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2">
                  <a:lumMod val="10000"/>
                  <a:lumOff val="90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7000">
                <a:schemeClr val="accent3">
                  <a:lumMod val="40000"/>
                  <a:lumOff val="60000"/>
                </a:schemeClr>
              </a:gs>
              <a:gs pos="20000">
                <a:schemeClr val="accent3">
                  <a:lumMod val="95000"/>
                  <a:lumOff val="5000"/>
                </a:schemeClr>
              </a:gs>
              <a:gs pos="85000">
                <a:schemeClr val="tx1"/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31750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solidFill>
                <a:schemeClr val="tx2">
                  <a:lumMod val="10000"/>
                  <a:lumOff val="90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Category_Performance!$B$3</c:f>
              <c:strCache>
                <c:ptCount val="1"/>
                <c:pt idx="0">
                  <c:v>Sum of Revenue</c:v>
                </c:pt>
              </c:strCache>
            </c:strRef>
          </c:tx>
          <c:spPr>
            <a:gradFill rotWithShape="1">
              <a:gsLst>
                <a:gs pos="7000">
                  <a:schemeClr val="accent3">
                    <a:lumMod val="40000"/>
                    <a:lumOff val="60000"/>
                  </a:schemeClr>
                </a:gs>
                <a:gs pos="20000">
                  <a:schemeClr val="accent3">
                    <a:lumMod val="95000"/>
                    <a:lumOff val="5000"/>
                  </a:schemeClr>
                </a:gs>
                <a:gs pos="85000">
                  <a:schemeClr val="tx1"/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Category_Performance!$A$4:$A$8</c:f>
              <c:strCache>
                <c:ptCount val="4"/>
                <c:pt idx="0">
                  <c:v>Electronics</c:v>
                </c:pt>
                <c:pt idx="1">
                  <c:v>Furniture</c:v>
                </c:pt>
                <c:pt idx="2">
                  <c:v>Home Appliances</c:v>
                </c:pt>
                <c:pt idx="3">
                  <c:v>Stationery</c:v>
                </c:pt>
              </c:strCache>
            </c:strRef>
          </c:cat>
          <c:val>
            <c:numRef>
              <c:f>Category_Performance!$B$4:$B$8</c:f>
              <c:numCache>
                <c:formatCode>"₹"#,##0.00</c:formatCode>
                <c:ptCount val="4"/>
                <c:pt idx="0">
                  <c:v>24414711.594999984</c:v>
                </c:pt>
                <c:pt idx="1">
                  <c:v>83628624.719999999</c:v>
                </c:pt>
                <c:pt idx="2">
                  <c:v>55839724.649999954</c:v>
                </c:pt>
                <c:pt idx="3">
                  <c:v>2497137.6600000048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11-E844-8E5D-9DDA93DF0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47456959"/>
        <c:axId val="740921727"/>
      </c:barChart>
      <c:lineChart>
        <c:grouping val="standard"/>
        <c:varyColors val="0"/>
        <c:ser>
          <c:idx val="1"/>
          <c:order val="1"/>
          <c:tx>
            <c:strRef>
              <c:f>Category_Performance!$C$3</c:f>
              <c:strCache>
                <c:ptCount val="1"/>
                <c:pt idx="0">
                  <c:v>Sum of Quantity</c:v>
                </c:pt>
              </c:strCache>
            </c:strRef>
          </c:tx>
          <c:spPr>
            <a:ln w="31750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solidFill>
                  <a:schemeClr val="tx2">
                    <a:lumMod val="10000"/>
                    <a:lumOff val="90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Category_Performance!$A$4:$A$8</c:f>
              <c:strCache>
                <c:ptCount val="4"/>
                <c:pt idx="0">
                  <c:v>Electronics</c:v>
                </c:pt>
                <c:pt idx="1">
                  <c:v>Furniture</c:v>
                </c:pt>
                <c:pt idx="2">
                  <c:v>Home Appliances</c:v>
                </c:pt>
                <c:pt idx="3">
                  <c:v>Stationery</c:v>
                </c:pt>
              </c:strCache>
            </c:strRef>
          </c:cat>
          <c:val>
            <c:numRef>
              <c:f>Category_Performance!$C$4:$C$8</c:f>
              <c:numCache>
                <c:formatCode>General</c:formatCode>
                <c:ptCount val="4"/>
                <c:pt idx="0">
                  <c:v>27000</c:v>
                </c:pt>
                <c:pt idx="1">
                  <c:v>13500</c:v>
                </c:pt>
                <c:pt idx="2">
                  <c:v>13500</c:v>
                </c:pt>
                <c:pt idx="3">
                  <c:v>13500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11-E844-8E5D-9DDA93DF06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4733951"/>
        <c:axId val="345770623"/>
      </c:lineChart>
      <c:catAx>
        <c:axId val="247456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921727"/>
        <c:crosses val="autoZero"/>
        <c:auto val="1"/>
        <c:lblAlgn val="ctr"/>
        <c:lblOffset val="100"/>
        <c:noMultiLvlLbl val="0"/>
      </c:catAx>
      <c:valAx>
        <c:axId val="7409217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7456959"/>
        <c:crosses val="autoZero"/>
        <c:crossBetween val="between"/>
      </c:valAx>
      <c:valAx>
        <c:axId val="34577062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QUANTIY</a:t>
                </a:r>
                <a:r>
                  <a:rPr lang="en-GB" baseline="0"/>
                  <a:t> SOLD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733951"/>
        <c:crosses val="max"/>
        <c:crossBetween val="between"/>
      </c:valAx>
      <c:catAx>
        <c:axId val="52473395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57706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[Retailpro1.xlsx]Top_10_Products!PivotTable8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pPr>
            <a:r>
              <a:rPr lang="en-GB">
                <a:solidFill>
                  <a:schemeClr val="tx1"/>
                </a:solidFill>
              </a:rPr>
              <a:t>TOP</a:t>
            </a:r>
            <a:r>
              <a:rPr lang="en-GB" baseline="0">
                <a:solidFill>
                  <a:schemeClr val="tx1"/>
                </a:solidFill>
              </a:rPr>
              <a:t> 10 PRODUCTS</a:t>
            </a:r>
            <a:endParaRPr lang="en-GB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tx1"/>
              </a:solidFill>
              <a:latin typeface="+mj-lt"/>
              <a:ea typeface="+mj-ea"/>
              <a:cs typeface="+mj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1"/>
          </a:solidFill>
          <a:ln w="15875">
            <a:solidFill>
              <a:schemeClr val="tx2">
                <a:lumMod val="10000"/>
                <a:lumOff val="9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1"/>
          </a:solidFill>
          <a:ln w="15875">
            <a:solidFill>
              <a:schemeClr val="tx2">
                <a:lumMod val="10000"/>
                <a:lumOff val="9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1"/>
          </a:solidFill>
          <a:ln w="15875">
            <a:solidFill>
              <a:schemeClr val="tx2">
                <a:lumMod val="10000"/>
                <a:lumOff val="90000"/>
              </a:schemeClr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Top_10_Products!$B$3</c:f>
              <c:strCache>
                <c:ptCount val="1"/>
                <c:pt idx="0">
                  <c:v>Sum of Revenue</c:v>
                </c:pt>
              </c:strCache>
            </c:strRef>
          </c:tx>
          <c:spPr>
            <a:solidFill>
              <a:schemeClr val="tx1"/>
            </a:solidFill>
            <a:ln w="15875">
              <a:solidFill>
                <a:schemeClr val="tx2">
                  <a:lumMod val="10000"/>
                  <a:lumOff val="90000"/>
                </a:schemeClr>
              </a:solidFill>
            </a:ln>
            <a:effectLst/>
          </c:spPr>
          <c:invertIfNegative val="0"/>
          <c:cat>
            <c:strRef>
              <c:f>Top_10_Products!$A$4:$A$14</c:f>
              <c:strCache>
                <c:ptCount val="10"/>
                <c:pt idx="0">
                  <c:v>Office Chair 044</c:v>
                </c:pt>
                <c:pt idx="1">
                  <c:v>Office Chair 046</c:v>
                </c:pt>
                <c:pt idx="2">
                  <c:v>Coffee Maker 094</c:v>
                </c:pt>
                <c:pt idx="3">
                  <c:v>Office Chair 054</c:v>
                </c:pt>
                <c:pt idx="4">
                  <c:v>Office Chair 059</c:v>
                </c:pt>
                <c:pt idx="5">
                  <c:v>Office Chair 056</c:v>
                </c:pt>
                <c:pt idx="6">
                  <c:v>Office Chair 041</c:v>
                </c:pt>
                <c:pt idx="7">
                  <c:v>Office Chair 058</c:v>
                </c:pt>
                <c:pt idx="8">
                  <c:v>Office Chair 049</c:v>
                </c:pt>
                <c:pt idx="9">
                  <c:v>Coffee Maker 089</c:v>
                </c:pt>
              </c:strCache>
            </c:strRef>
          </c:cat>
          <c:val>
            <c:numRef>
              <c:f>Top_10_Products!$B$4:$B$14</c:f>
              <c:numCache>
                <c:formatCode>"₹"#,##0.00</c:formatCode>
                <c:ptCount val="10"/>
                <c:pt idx="0">
                  <c:v>9397111.4249999952</c:v>
                </c:pt>
                <c:pt idx="1">
                  <c:v>8205839.9999999981</c:v>
                </c:pt>
                <c:pt idx="2">
                  <c:v>7297956.9000000032</c:v>
                </c:pt>
                <c:pt idx="3">
                  <c:v>7094087.8800000036</c:v>
                </c:pt>
                <c:pt idx="4">
                  <c:v>6067727.709999999</c:v>
                </c:pt>
                <c:pt idx="5">
                  <c:v>5880797.625</c:v>
                </c:pt>
                <c:pt idx="6">
                  <c:v>5858058.0000000009</c:v>
                </c:pt>
                <c:pt idx="7">
                  <c:v>4982871.495000002</c:v>
                </c:pt>
                <c:pt idx="8">
                  <c:v>4776420.0600000015</c:v>
                </c:pt>
                <c:pt idx="9">
                  <c:v>4304796.3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8A-2444-A908-1C581D162D4A}"/>
            </c:ext>
          </c:extLst>
        </c:ser>
        <c:ser>
          <c:idx val="1"/>
          <c:order val="1"/>
          <c:tx>
            <c:strRef>
              <c:f>Top_10_Products!$C$3</c:f>
              <c:strCache>
                <c:ptCount val="1"/>
                <c:pt idx="0">
                  <c:v>Sum of Quantity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Top_10_Products!$A$4:$A$14</c:f>
              <c:strCache>
                <c:ptCount val="10"/>
                <c:pt idx="0">
                  <c:v>Office Chair 044</c:v>
                </c:pt>
                <c:pt idx="1">
                  <c:v>Office Chair 046</c:v>
                </c:pt>
                <c:pt idx="2">
                  <c:v>Coffee Maker 094</c:v>
                </c:pt>
                <c:pt idx="3">
                  <c:v>Office Chair 054</c:v>
                </c:pt>
                <c:pt idx="4">
                  <c:v>Office Chair 059</c:v>
                </c:pt>
                <c:pt idx="5">
                  <c:v>Office Chair 056</c:v>
                </c:pt>
                <c:pt idx="6">
                  <c:v>Office Chair 041</c:v>
                </c:pt>
                <c:pt idx="7">
                  <c:v>Office Chair 058</c:v>
                </c:pt>
                <c:pt idx="8">
                  <c:v>Office Chair 049</c:v>
                </c:pt>
                <c:pt idx="9">
                  <c:v>Coffee Maker 089</c:v>
                </c:pt>
              </c:strCache>
            </c:strRef>
          </c:cat>
          <c:val>
            <c:numRef>
              <c:f>Top_10_Products!$C$4:$C$14</c:f>
              <c:numCache>
                <c:formatCode>General</c:formatCode>
                <c:ptCount val="10"/>
                <c:pt idx="0">
                  <c:v>1200</c:v>
                </c:pt>
                <c:pt idx="1">
                  <c:v>1000</c:v>
                </c:pt>
                <c:pt idx="2">
                  <c:v>1300</c:v>
                </c:pt>
                <c:pt idx="3">
                  <c:v>1300</c:v>
                </c:pt>
                <c:pt idx="4">
                  <c:v>950</c:v>
                </c:pt>
                <c:pt idx="5">
                  <c:v>1000</c:v>
                </c:pt>
                <c:pt idx="6">
                  <c:v>800</c:v>
                </c:pt>
                <c:pt idx="7">
                  <c:v>800</c:v>
                </c:pt>
                <c:pt idx="8">
                  <c:v>1050</c:v>
                </c:pt>
                <c:pt idx="9">
                  <c:v>1050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8A-2444-A908-1C581D162D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overlap val="-48"/>
        <c:axId val="1831064832"/>
        <c:axId val="1831063936"/>
      </c:barChart>
      <c:catAx>
        <c:axId val="1831064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PRODUCTS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1063936"/>
        <c:crosses val="autoZero"/>
        <c:auto val="1"/>
        <c:lblAlgn val="ctr"/>
        <c:lblOffset val="100"/>
        <c:noMultiLvlLbl val="0"/>
      </c:catAx>
      <c:valAx>
        <c:axId val="1831063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1064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[Retailpro1.xlsx]Regional_Performance!PivotTable6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>
                <a:solidFill>
                  <a:schemeClr val="tx1"/>
                </a:solidFill>
              </a:rPr>
              <a:t>REGIONAL VS ORDER 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flip="none" rotWithShape="1">
            <a:gsLst>
              <a:gs pos="0">
                <a:schemeClr val="accent1"/>
              </a:gs>
              <a:gs pos="75000">
                <a:schemeClr val="accent1">
                  <a:lumMod val="60000"/>
                  <a:lumOff val="40000"/>
                </a:schemeClr>
              </a:gs>
              <a:gs pos="51000">
                <a:schemeClr val="accent1">
                  <a:alpha val="75000"/>
                </a:schemeClr>
              </a:gs>
              <a:gs pos="100000">
                <a:schemeClr val="accent1">
                  <a:lumMod val="20000"/>
                  <a:lumOff val="80000"/>
                  <a:alpha val="15000"/>
                </a:schemeClr>
              </a:gs>
            </a:gsLst>
            <a:lin ang="10800000" scaled="1"/>
            <a:tileRect/>
          </a:gra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tx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>
            <a:gsLst>
              <a:gs pos="94000">
                <a:schemeClr val="tx1"/>
              </a:gs>
              <a:gs pos="7000">
                <a:schemeClr val="accent3">
                  <a:lumMod val="40000"/>
                  <a:lumOff val="60000"/>
                </a:schemeClr>
              </a:gs>
              <a:gs pos="18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>
            <a:gsLst>
              <a:gs pos="94000">
                <a:schemeClr val="tx1"/>
              </a:gs>
              <a:gs pos="7000">
                <a:schemeClr val="accent3">
                  <a:lumMod val="40000"/>
                  <a:lumOff val="60000"/>
                </a:schemeClr>
              </a:gs>
              <a:gs pos="18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>
            <a:gsLst>
              <a:gs pos="94000">
                <a:schemeClr val="tx1"/>
              </a:gs>
              <a:gs pos="7000">
                <a:schemeClr val="accent3">
                  <a:lumMod val="40000"/>
                  <a:lumOff val="60000"/>
                </a:schemeClr>
              </a:gs>
              <a:gs pos="18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</a:gra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Regional_Performance!$B$3</c:f>
              <c:strCache>
                <c:ptCount val="1"/>
                <c:pt idx="0">
                  <c:v>Sum of Revenue</c:v>
                </c:pt>
              </c:strCache>
            </c:strRef>
          </c:tx>
          <c:spPr>
            <a:gradFill>
              <a:gsLst>
                <a:gs pos="94000">
                  <a:schemeClr val="tx1"/>
                </a:gs>
                <a:gs pos="7000">
                  <a:schemeClr val="accent3">
                    <a:lumMod val="40000"/>
                    <a:lumOff val="60000"/>
                  </a:schemeClr>
                </a:gs>
                <a:gs pos="18000">
                  <a:schemeClr val="accent3">
                    <a:lumMod val="95000"/>
                    <a:lumOff val="5000"/>
                  </a:schemeClr>
                </a:gs>
              </a:gsLst>
              <a:path path="circle">
                <a:fillToRect l="50000" t="130000" r="50000" b="-30000"/>
              </a:path>
            </a:gradFill>
            <a:ln>
              <a:noFill/>
            </a:ln>
            <a:effectLst/>
          </c:spPr>
          <c:invertIfNegative val="0"/>
          <c:cat>
            <c:strRef>
              <c:f>Regional_Performance!$A$4:$A$9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Regional_Performance!$B$4:$B$9</c:f>
              <c:numCache>
                <c:formatCode>"₹"#,##0.00</c:formatCode>
                <c:ptCount val="5"/>
                <c:pt idx="0">
                  <c:v>6221829.0400000056</c:v>
                </c:pt>
                <c:pt idx="1">
                  <c:v>45168094.100000031</c:v>
                </c:pt>
                <c:pt idx="2">
                  <c:v>33313505.350000072</c:v>
                </c:pt>
                <c:pt idx="3">
                  <c:v>47458097.334999926</c:v>
                </c:pt>
                <c:pt idx="4">
                  <c:v>34218672.79999996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2E-CD47-B94D-B1A5435E8A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6"/>
        <c:axId val="1831070656"/>
        <c:axId val="1831074688"/>
      </c:barChart>
      <c:lineChart>
        <c:grouping val="standard"/>
        <c:varyColors val="0"/>
        <c:ser>
          <c:idx val="1"/>
          <c:order val="1"/>
          <c:tx>
            <c:strRef>
              <c:f>Regional_Performance!$C$3</c:f>
              <c:strCache>
                <c:ptCount val="1"/>
                <c:pt idx="0">
                  <c:v>No of orders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Regional_Performance!$A$4:$A$9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Regional_Performance!$C$4:$C$9</c:f>
              <c:numCache>
                <c:formatCode>General</c:formatCode>
                <c:ptCount val="5"/>
                <c:pt idx="0">
                  <c:v>500</c:v>
                </c:pt>
                <c:pt idx="1">
                  <c:v>1000.0000000000671</c:v>
                </c:pt>
                <c:pt idx="2">
                  <c:v>1000</c:v>
                </c:pt>
                <c:pt idx="3">
                  <c:v>1500.0000000000477</c:v>
                </c:pt>
                <c:pt idx="4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82E-CD47-B94D-B1A5435E8A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63916095"/>
        <c:axId val="463914303"/>
      </c:lineChart>
      <c:catAx>
        <c:axId val="183107065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region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1074688"/>
        <c:crosses val="autoZero"/>
        <c:auto val="1"/>
        <c:lblAlgn val="ctr"/>
        <c:lblOffset val="100"/>
        <c:noMultiLvlLbl val="0"/>
      </c:catAx>
      <c:valAx>
        <c:axId val="1831074688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&quot;₹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1070656"/>
        <c:crosses val="autoZero"/>
        <c:crossBetween val="between"/>
      </c:valAx>
      <c:valAx>
        <c:axId val="46391430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63916095"/>
        <c:crosses val="max"/>
        <c:crossBetween val="between"/>
      </c:valAx>
      <c:catAx>
        <c:axId val="4639160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63914303"/>
        <c:crosses val="autoZero"/>
        <c:auto val="1"/>
        <c:lblAlgn val="ctr"/>
        <c:lblOffset val="100"/>
        <c:noMultiLvlLbl val="0"/>
      </c:catAx>
      <c:spPr>
        <a:noFill/>
      </c:spPr>
    </c:plotArea>
    <c:legend>
      <c:legendPos val="t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[Retailpro1.xlsx]TOP 5 STATES!PivotTable3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CONTRIBUTION BY STATES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C00000"/>
          </a:solidFill>
          <a:ln>
            <a:solidFill>
              <a:srgbClr val="FF0000"/>
            </a:solidFill>
          </a:ln>
          <a:effectLst/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C00000"/>
          </a:solidFill>
          <a:ln>
            <a:solidFill>
              <a:srgbClr val="FF0000"/>
            </a:solidFill>
          </a:ln>
          <a:effectLst/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C00000"/>
          </a:solidFill>
          <a:ln>
            <a:solidFill>
              <a:schemeClr val="tx1"/>
            </a:solidFill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C00000"/>
          </a:solidFill>
          <a:ln>
            <a:solidFill>
              <a:schemeClr val="tx1"/>
            </a:solidFill>
          </a:ln>
          <a:effectLst/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rgbClr val="C00000"/>
          </a:solidFill>
          <a:ln>
            <a:solidFill>
              <a:schemeClr val="tx1"/>
            </a:solidFill>
          </a:ln>
          <a:effectLst/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'TOP 5 STATES'!$B$3</c:f>
              <c:strCache>
                <c:ptCount val="1"/>
                <c:pt idx="0">
                  <c:v>Total</c:v>
                </c:pt>
              </c:strCache>
            </c:strRef>
          </c:tx>
          <c:spPr>
            <a:ln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rgbClr val="C00000"/>
              </a:soli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E15-9C47-BC77-92F0BFCD526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E15-9C47-BC77-92F0BFCD5264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E15-9C47-BC77-92F0BFCD526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E15-9C47-BC77-92F0BFCD5264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E15-9C47-BC77-92F0BFCD5264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E15-9C47-BC77-92F0BFCD5264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E15-9C47-BC77-92F0BFCD5264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7E15-9C47-BC77-92F0BFCD5264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7E15-9C47-BC77-92F0BFCD5264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7E15-9C47-BC77-92F0BFCD526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2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'TOP 5 STATES'!$A$4:$A$9</c:f>
              <c:strCache>
                <c:ptCount val="5"/>
                <c:pt idx="0">
                  <c:v>Delhi</c:v>
                </c:pt>
                <c:pt idx="1">
                  <c:v>Karnataka</c:v>
                </c:pt>
                <c:pt idx="2">
                  <c:v>Kerala</c:v>
                </c:pt>
                <c:pt idx="3">
                  <c:v>Maharashtra</c:v>
                </c:pt>
                <c:pt idx="4">
                  <c:v>West Bengal</c:v>
                </c:pt>
              </c:strCache>
            </c:strRef>
          </c:cat>
          <c:val>
            <c:numRef>
              <c:f>'TOP 5 STATES'!$B$4:$B$9</c:f>
              <c:numCache>
                <c:formatCode>"₹"#,##0.00</c:formatCode>
                <c:ptCount val="5"/>
                <c:pt idx="0">
                  <c:v>22545904.059999995</c:v>
                </c:pt>
                <c:pt idx="1">
                  <c:v>17139925.405000005</c:v>
                </c:pt>
                <c:pt idx="2">
                  <c:v>26050581.394999996</c:v>
                </c:pt>
                <c:pt idx="3">
                  <c:v>22396607.864999983</c:v>
                </c:pt>
                <c:pt idx="4">
                  <c:v>29380515.060000002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E15-9C47-BC77-92F0BFCD5264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ln>
                <a:noFill/>
              </a:ln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2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[Retailpro1.xlsx]Customer_Segment!PivotTable7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all" spc="1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>
                <a:solidFill>
                  <a:schemeClr val="tx1"/>
                </a:solidFill>
              </a:rPr>
              <a:t>CUSTOMER</a:t>
            </a:r>
            <a:r>
              <a:rPr lang="en-GB" baseline="0">
                <a:solidFill>
                  <a:schemeClr val="tx1"/>
                </a:solidFill>
              </a:rPr>
              <a:t> SEGMENT ANALYSIS</a:t>
            </a:r>
            <a:endParaRPr lang="en-GB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8000">
                <a:schemeClr val="tx1"/>
              </a:gs>
              <a:gs pos="100000">
                <a:schemeClr val="accent3">
                  <a:lumMod val="40000"/>
                  <a:lumOff val="60000"/>
                </a:schemeClr>
              </a:gs>
              <a:gs pos="48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solidFill>
              <a:schemeClr val="bg1"/>
            </a:solidFill>
            <a:ln>
              <a:solidFill>
                <a:schemeClr val="bg1">
                  <a:lumMod val="95000"/>
                </a:schemeClr>
              </a:solidFill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flip="none" rotWithShape="1">
            <a:gsLst>
              <a:gs pos="8000">
                <a:schemeClr val="tx1"/>
              </a:gs>
              <a:gs pos="100000">
                <a:schemeClr val="accent3">
                  <a:lumMod val="40000"/>
                  <a:lumOff val="60000"/>
                </a:schemeClr>
              </a:gs>
              <a:gs pos="48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flip="none" rotWithShape="1">
            <a:gsLst>
              <a:gs pos="35000">
                <a:schemeClr val="tx1"/>
              </a:gs>
              <a:gs pos="100000">
                <a:schemeClr val="accent3">
                  <a:lumMod val="40000"/>
                  <a:lumOff val="60000"/>
                </a:schemeClr>
              </a:gs>
              <a:gs pos="69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flip="none" rotWithShape="1">
            <a:gsLst>
              <a:gs pos="35000">
                <a:schemeClr val="tx1"/>
              </a:gs>
              <a:gs pos="100000">
                <a:schemeClr val="accent3">
                  <a:lumMod val="40000"/>
                  <a:lumOff val="60000"/>
                </a:schemeClr>
              </a:gs>
              <a:gs pos="69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flip="none" rotWithShape="1">
            <a:gsLst>
              <a:gs pos="35000">
                <a:schemeClr val="tx1"/>
              </a:gs>
              <a:gs pos="100000">
                <a:schemeClr val="accent3">
                  <a:lumMod val="40000"/>
                  <a:lumOff val="60000"/>
                </a:schemeClr>
              </a:gs>
              <a:gs pos="69000">
                <a:schemeClr val="accent3">
                  <a:lumMod val="95000"/>
                  <a:lumOff val="5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pattFill prst="narHorz">
            <a:fgClr>
              <a:schemeClr val="accent1"/>
            </a:fgClr>
            <a:bgClr>
              <a:schemeClr val="accent1">
                <a:lumMod val="20000"/>
                <a:lumOff val="80000"/>
              </a:schemeClr>
            </a:bgClr>
          </a:pattFill>
          <a:ln>
            <a:noFill/>
          </a:ln>
          <a:effectLst>
            <a:innerShdw blurRad="114300">
              <a:schemeClr val="accent1"/>
            </a:inn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Customer_Segment!$B$3</c:f>
              <c:strCache>
                <c:ptCount val="1"/>
                <c:pt idx="0">
                  <c:v>Sum of Revenue</c:v>
                </c:pt>
              </c:strCache>
            </c:strRef>
          </c:tx>
          <c:spPr>
            <a:gradFill flip="none" rotWithShape="1">
              <a:gsLst>
                <a:gs pos="35000">
                  <a:schemeClr val="tx1"/>
                </a:gs>
                <a:gs pos="100000">
                  <a:schemeClr val="accent3">
                    <a:lumMod val="40000"/>
                    <a:lumOff val="60000"/>
                  </a:schemeClr>
                </a:gs>
                <a:gs pos="69000">
                  <a:schemeClr val="accent3">
                    <a:lumMod val="95000"/>
                    <a:lumOff val="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Customer_Segment!$A$4:$A$7</c:f>
              <c:strCache>
                <c:ptCount val="3"/>
                <c:pt idx="0">
                  <c:v>Corporate</c:v>
                </c:pt>
                <c:pt idx="1">
                  <c:v>Premium</c:v>
                </c:pt>
                <c:pt idx="2">
                  <c:v>Regular</c:v>
                </c:pt>
              </c:strCache>
            </c:strRef>
          </c:cat>
          <c:val>
            <c:numRef>
              <c:f>Customer_Segment!$B$4:$B$7</c:f>
              <c:numCache>
                <c:formatCode>"₹"#,##0.00</c:formatCode>
                <c:ptCount val="3"/>
                <c:pt idx="0">
                  <c:v>28767733.100000009</c:v>
                </c:pt>
                <c:pt idx="1">
                  <c:v>53958108.090000048</c:v>
                </c:pt>
                <c:pt idx="2">
                  <c:v>83654357.434999973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D1-FE42-B92B-D4E8E8AB2C6F}"/>
            </c:ext>
          </c:extLst>
        </c:ser>
        <c:ser>
          <c:idx val="1"/>
          <c:order val="1"/>
          <c:tx>
            <c:strRef>
              <c:f>Customer_Segment!$C$3</c:f>
              <c:strCache>
                <c:ptCount val="1"/>
                <c:pt idx="0">
                  <c:v>Orders </c:v>
                </c:pt>
              </c:strCache>
            </c:strRef>
          </c:tx>
          <c:spPr>
            <a:pattFill prst="narHorz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Customer_Segment!$A$4:$A$7</c:f>
              <c:strCache>
                <c:ptCount val="3"/>
                <c:pt idx="0">
                  <c:v>Corporate</c:v>
                </c:pt>
                <c:pt idx="1">
                  <c:v>Premium</c:v>
                </c:pt>
                <c:pt idx="2">
                  <c:v>Regular</c:v>
                </c:pt>
              </c:strCache>
            </c:strRef>
          </c:cat>
          <c:val>
            <c:numRef>
              <c:f>Customer_Segment!$C$4:$C$7</c:f>
              <c:numCache>
                <c:formatCode>General</c:formatCode>
                <c:ptCount val="3"/>
                <c:pt idx="0">
                  <c:v>1000</c:v>
                </c:pt>
                <c:pt idx="1">
                  <c:v>1500.0000000000477</c:v>
                </c:pt>
                <c:pt idx="2">
                  <c:v>2499.9999999999882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D1-FE42-B92B-D4E8E8AB2C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1821089664"/>
        <c:axId val="1839312704"/>
      </c:barChart>
      <c:catAx>
        <c:axId val="18210896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SEGMENT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9312704"/>
        <c:crosses val="autoZero"/>
        <c:auto val="1"/>
        <c:lblAlgn val="ctr"/>
        <c:lblOffset val="100"/>
        <c:noMultiLvlLbl val="0"/>
      </c:catAx>
      <c:valAx>
        <c:axId val="183931270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1089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[Retailpro1.xlsx]Payment_Method_Analysis!PivotTable11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/>
              <a:t>REVENUE</a:t>
            </a:r>
            <a:r>
              <a:rPr lang="en-GB" b="1" baseline="0"/>
              <a:t> BY PAYMENT METHORD</a:t>
            </a:r>
            <a:endParaRPr lang="en-GB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flip="none" rotWithShape="1">
            <a:gsLst>
              <a:gs pos="7000">
                <a:schemeClr val="accent3">
                  <a:lumMod val="40000"/>
                  <a:lumOff val="60000"/>
                </a:schemeClr>
              </a:gs>
              <a:gs pos="35000">
                <a:schemeClr val="accent3">
                  <a:lumMod val="95000"/>
                  <a:lumOff val="5000"/>
                </a:schemeClr>
              </a:gs>
              <a:gs pos="85000">
                <a:schemeClr val="tx1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flip="none" rotWithShape="1">
            <a:gsLst>
              <a:gs pos="7000">
                <a:schemeClr val="accent3">
                  <a:lumMod val="40000"/>
                  <a:lumOff val="60000"/>
                </a:schemeClr>
              </a:gs>
              <a:gs pos="35000">
                <a:schemeClr val="accent3">
                  <a:lumMod val="95000"/>
                  <a:lumOff val="5000"/>
                </a:schemeClr>
              </a:gs>
              <a:gs pos="85000">
                <a:schemeClr val="tx1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flip="none" rotWithShape="1">
            <a:gsLst>
              <a:gs pos="7000">
                <a:schemeClr val="accent3">
                  <a:lumMod val="40000"/>
                  <a:lumOff val="60000"/>
                </a:schemeClr>
              </a:gs>
              <a:gs pos="35000">
                <a:schemeClr val="accent3">
                  <a:lumMod val="95000"/>
                  <a:lumOff val="5000"/>
                </a:schemeClr>
              </a:gs>
              <a:gs pos="85000">
                <a:schemeClr val="tx1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3">
                <a:lumMod val="60000"/>
                <a:lumOff val="4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Payment_Method_Analysis!$B$3</c:f>
              <c:strCache>
                <c:ptCount val="1"/>
                <c:pt idx="0">
                  <c:v>Sum of Revenue</c:v>
                </c:pt>
              </c:strCache>
            </c:strRef>
          </c:tx>
          <c:spPr>
            <a:gradFill flip="none" rotWithShape="1">
              <a:gsLst>
                <a:gs pos="7000">
                  <a:schemeClr val="accent3">
                    <a:lumMod val="40000"/>
                    <a:lumOff val="60000"/>
                  </a:schemeClr>
                </a:gs>
                <a:gs pos="35000">
                  <a:schemeClr val="accent3">
                    <a:lumMod val="95000"/>
                    <a:lumOff val="5000"/>
                  </a:schemeClr>
                </a:gs>
                <a:gs pos="85000">
                  <a:schemeClr val="tx1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/>
          </c:spPr>
          <c:invertIfNegative val="0"/>
          <c:cat>
            <c:strRef>
              <c:f>Payment_Method_Analysis!$A$4:$A$9</c:f>
              <c:strCache>
                <c:ptCount val="5"/>
                <c:pt idx="0">
                  <c:v>Cash on Delivery</c:v>
                </c:pt>
                <c:pt idx="1">
                  <c:v>Credit Card</c:v>
                </c:pt>
                <c:pt idx="2">
                  <c:v>Debit Card</c:v>
                </c:pt>
                <c:pt idx="3">
                  <c:v>Net Banking</c:v>
                </c:pt>
                <c:pt idx="4">
                  <c:v>UPI</c:v>
                </c:pt>
              </c:strCache>
            </c:strRef>
          </c:cat>
          <c:val>
            <c:numRef>
              <c:f>Payment_Method_Analysis!$B$4:$B$9</c:f>
              <c:numCache>
                <c:formatCode>"₹"#,##0.00</c:formatCode>
                <c:ptCount val="5"/>
                <c:pt idx="0">
                  <c:v>10489419.575000009</c:v>
                </c:pt>
                <c:pt idx="1">
                  <c:v>32927504.445000008</c:v>
                </c:pt>
                <c:pt idx="2">
                  <c:v>44942511.925000004</c:v>
                </c:pt>
                <c:pt idx="3">
                  <c:v>55431096.454999991</c:v>
                </c:pt>
                <c:pt idx="4">
                  <c:v>22589666.225000005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38-2F4D-A9FD-1EA4375A5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58597504"/>
        <c:axId val="322741440"/>
      </c:barChart>
      <c:lineChart>
        <c:grouping val="standard"/>
        <c:varyColors val="0"/>
        <c:ser>
          <c:idx val="1"/>
          <c:order val="1"/>
          <c:tx>
            <c:strRef>
              <c:f>Payment_Method_Analysis!$C$3</c:f>
              <c:strCache>
                <c:ptCount val="1"/>
                <c:pt idx="0">
                  <c:v>ORDERS</c:v>
                </c:pt>
              </c:strCache>
            </c:strRef>
          </c:tx>
          <c:spPr>
            <a:ln w="2857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Payment_Method_Analysis!$A$4:$A$9</c:f>
              <c:strCache>
                <c:ptCount val="5"/>
                <c:pt idx="0">
                  <c:v>Cash on Delivery</c:v>
                </c:pt>
                <c:pt idx="1">
                  <c:v>Credit Card</c:v>
                </c:pt>
                <c:pt idx="2">
                  <c:v>Debit Card</c:v>
                </c:pt>
                <c:pt idx="3">
                  <c:v>Net Banking</c:v>
                </c:pt>
                <c:pt idx="4">
                  <c:v>UPI</c:v>
                </c:pt>
              </c:strCache>
            </c:strRef>
          </c:cat>
          <c:val>
            <c:numRef>
              <c:f>Payment_Method_Analysis!$C$4:$C$9</c:f>
              <c:numCache>
                <c:formatCode>General</c:formatCode>
                <c:ptCount val="5"/>
                <c:pt idx="0">
                  <c:v>1000</c:v>
                </c:pt>
                <c:pt idx="1">
                  <c:v>1000.0000000000438</c:v>
                </c:pt>
                <c:pt idx="2">
                  <c:v>1000</c:v>
                </c:pt>
                <c:pt idx="3">
                  <c:v>1000.0000000000904</c:v>
                </c:pt>
                <c:pt idx="4">
                  <c:v>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38-2F4D-A9FD-1EA4375A5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1255744"/>
        <c:axId val="671246848"/>
      </c:lineChart>
      <c:catAx>
        <c:axId val="65859750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PAYMENT</a:t>
                </a:r>
                <a:r>
                  <a:rPr lang="en-GB" baseline="0"/>
                  <a:t> METHORD</a:t>
                </a:r>
                <a:endParaRPr lang="en-GB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2741440"/>
        <c:crosses val="autoZero"/>
        <c:auto val="1"/>
        <c:lblAlgn val="ctr"/>
        <c:lblOffset val="100"/>
        <c:noMultiLvlLbl val="0"/>
      </c:catAx>
      <c:valAx>
        <c:axId val="322741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#,##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8597504"/>
        <c:crosses val="autoZero"/>
        <c:crossBetween val="between"/>
      </c:valAx>
      <c:valAx>
        <c:axId val="671246848"/>
        <c:scaling>
          <c:orientation val="minMax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 ORDERS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1255744"/>
        <c:crosses val="max"/>
        <c:crossBetween val="between"/>
      </c:valAx>
      <c:catAx>
        <c:axId val="66125574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712468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[Retailpro1.xlsx]Order_Status_Analysis!PivotTable10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>
                <a:solidFill>
                  <a:schemeClr val="tx1"/>
                </a:solidFill>
              </a:rPr>
              <a:t>ORDER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7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8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9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1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2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3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4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5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7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8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9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0"/>
        <c:spPr>
          <a:solidFill>
            <a:schemeClr val="accent1"/>
          </a:solidFill>
          <a:ln w="15875">
            <a:solidFill>
              <a:schemeClr val="tx1"/>
            </a:solidFill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Order_Status_Analysis!$B$3</c:f>
              <c:strCache>
                <c:ptCount val="1"/>
                <c:pt idx="0">
                  <c:v>Total</c:v>
                </c:pt>
              </c:strCache>
            </c:strRef>
          </c:tx>
          <c:spPr>
            <a:ln w="1587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/>
              </a:solidFill>
              <a:ln w="15875">
                <a:solidFill>
                  <a:schemeClr val="tx1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D74-984F-832F-5780957954F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5875">
                <a:solidFill>
                  <a:schemeClr val="tx1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D74-984F-832F-5780957954F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5875">
                <a:solidFill>
                  <a:schemeClr val="tx1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D74-984F-832F-5780957954F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5875">
                <a:solidFill>
                  <a:schemeClr val="tx1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3D74-984F-832F-5780957954F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5875">
                <a:solidFill>
                  <a:schemeClr val="tx1"/>
                </a:solidFill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3D74-984F-832F-5780957954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Order_Status_Analysis!$A$4:$A$9</c:f>
              <c:strCache>
                <c:ptCount val="5"/>
                <c:pt idx="0">
                  <c:v>Cancelled</c:v>
                </c:pt>
                <c:pt idx="1">
                  <c:v>Delivered</c:v>
                </c:pt>
                <c:pt idx="2">
                  <c:v>Processing</c:v>
                </c:pt>
                <c:pt idx="3">
                  <c:v>Returned</c:v>
                </c:pt>
                <c:pt idx="4">
                  <c:v>Shipped</c:v>
                </c:pt>
              </c:strCache>
            </c:strRef>
          </c:cat>
          <c:val>
            <c:numRef>
              <c:f>Order_Status_Analysis!$B$4:$B$9</c:f>
              <c:numCache>
                <c:formatCode>General</c:formatCode>
                <c:ptCount val="5"/>
                <c:pt idx="0">
                  <c:v>216.99999999999969</c:v>
                </c:pt>
                <c:pt idx="1">
                  <c:v>3105.9999999999154</c:v>
                </c:pt>
                <c:pt idx="2">
                  <c:v>647.00000000000307</c:v>
                </c:pt>
                <c:pt idx="3">
                  <c:v>251.99999999999935</c:v>
                </c:pt>
                <c:pt idx="4">
                  <c:v>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D74-984F-832F-5780957954F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7298299419355954"/>
          <c:y val="0.32406098735145539"/>
          <c:w val="0.19200606488740329"/>
          <c:h val="0.38903045410780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[Retailpro1.xlsx]REGIONAL_ORDER_STATUS!PivotTable4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ORDER</a:t>
            </a:r>
            <a:r>
              <a:rPr lang="en-GB" baseline="0"/>
              <a:t> STATUS BY REGION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REGIONAL_ORDER_STATUS!$B$3:$B$4</c:f>
              <c:strCache>
                <c:ptCount val="1"/>
                <c:pt idx="0">
                  <c:v>Cancelled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REGIONAL_ORDER_STATUS!$A$5:$A$10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REGIONAL_ORDER_STATUS!$B$5:$B$10</c:f>
              <c:numCache>
                <c:formatCode>General</c:formatCode>
                <c:ptCount val="5"/>
                <c:pt idx="0">
                  <c:v>21</c:v>
                </c:pt>
                <c:pt idx="1">
                  <c:v>42.000000000000043</c:v>
                </c:pt>
                <c:pt idx="2">
                  <c:v>44</c:v>
                </c:pt>
                <c:pt idx="3">
                  <c:v>66.000000000000171</c:v>
                </c:pt>
                <c:pt idx="4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B8-F341-B815-D25BB86988C1}"/>
            </c:ext>
          </c:extLst>
        </c:ser>
        <c:ser>
          <c:idx val="1"/>
          <c:order val="1"/>
          <c:tx>
            <c:strRef>
              <c:f>REGIONAL_ORDER_STATUS!$C$3:$C$4</c:f>
              <c:strCache>
                <c:ptCount val="1"/>
                <c:pt idx="0">
                  <c:v>Delivered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REGIONAL_ORDER_STATUS!$A$5:$A$10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REGIONAL_ORDER_STATUS!$C$5:$C$10</c:f>
              <c:numCache>
                <c:formatCode>General</c:formatCode>
                <c:ptCount val="5"/>
                <c:pt idx="1">
                  <c:v>776.00000000002888</c:v>
                </c:pt>
                <c:pt idx="2">
                  <c:v>778</c:v>
                </c:pt>
                <c:pt idx="3">
                  <c:v>776.00000000002899</c:v>
                </c:pt>
                <c:pt idx="4">
                  <c:v>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B8-F341-B815-D25BB86988C1}"/>
            </c:ext>
          </c:extLst>
        </c:ser>
        <c:ser>
          <c:idx val="2"/>
          <c:order val="2"/>
          <c:tx>
            <c:strRef>
              <c:f>REGIONAL_ORDER_STATUS!$D$3:$D$4</c:f>
              <c:strCache>
                <c:ptCount val="1"/>
                <c:pt idx="0">
                  <c:v>Processing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REGIONAL_ORDER_STATUS!$A$5:$A$10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REGIONAL_ORDER_STATUS!$D$5:$D$10</c:f>
              <c:numCache>
                <c:formatCode>General</c:formatCode>
                <c:ptCount val="5"/>
                <c:pt idx="0">
                  <c:v>65</c:v>
                </c:pt>
                <c:pt idx="1">
                  <c:v>132.00000000000023</c:v>
                </c:pt>
                <c:pt idx="2">
                  <c:v>128</c:v>
                </c:pt>
                <c:pt idx="3">
                  <c:v>192.99999999999955</c:v>
                </c:pt>
                <c:pt idx="4">
                  <c:v>129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B8-F341-B815-D25BB86988C1}"/>
            </c:ext>
          </c:extLst>
        </c:ser>
        <c:ser>
          <c:idx val="3"/>
          <c:order val="3"/>
          <c:tx>
            <c:strRef>
              <c:f>REGIONAL_ORDER_STATUS!$E$3:$E$4</c:f>
              <c:strCache>
                <c:ptCount val="1"/>
                <c:pt idx="0">
                  <c:v>Returned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REGIONAL_ORDER_STATUS!$A$5:$A$10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REGIONAL_ORDER_STATUS!$E$5:$E$10</c:f>
              <c:numCache>
                <c:formatCode>General</c:formatCode>
                <c:ptCount val="5"/>
                <c:pt idx="0">
                  <c:v>25</c:v>
                </c:pt>
                <c:pt idx="1">
                  <c:v>50.000000000000128</c:v>
                </c:pt>
                <c:pt idx="2">
                  <c:v>50</c:v>
                </c:pt>
                <c:pt idx="3">
                  <c:v>76.000000000000185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B8-F341-B815-D25BB86988C1}"/>
            </c:ext>
          </c:extLst>
        </c:ser>
        <c:ser>
          <c:idx val="4"/>
          <c:order val="4"/>
          <c:tx>
            <c:strRef>
              <c:f>REGIONAL_ORDER_STATUS!$F$3:$F$4</c:f>
              <c:strCache>
                <c:ptCount val="1"/>
                <c:pt idx="0">
                  <c:v>Shipped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REGIONAL_ORDER_STATUS!$A$5:$A$10</c:f>
              <c:strCache>
                <c:ptCount val="5"/>
                <c:pt idx="0">
                  <c:v>Central</c:v>
                </c:pt>
                <c:pt idx="1">
                  <c:v>East</c:v>
                </c:pt>
                <c:pt idx="2">
                  <c:v>North</c:v>
                </c:pt>
                <c:pt idx="3">
                  <c:v>South</c:v>
                </c:pt>
                <c:pt idx="4">
                  <c:v>West</c:v>
                </c:pt>
              </c:strCache>
            </c:strRef>
          </c:cat>
          <c:val>
            <c:numRef>
              <c:f>REGIONAL_ORDER_STATUS!$F$5:$F$10</c:f>
              <c:numCache>
                <c:formatCode>General</c:formatCode>
                <c:ptCount val="5"/>
                <c:pt idx="0">
                  <c:v>389</c:v>
                </c:pt>
                <c:pt idx="3">
                  <c:v>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4B8-F341-B815-D25BB86988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290705343"/>
        <c:axId val="241727935"/>
      </c:barChart>
      <c:valAx>
        <c:axId val="2417279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ORDES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0705343"/>
        <c:crosses val="autoZero"/>
        <c:crossBetween val="between"/>
      </c:valAx>
      <c:catAx>
        <c:axId val="29070534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REGION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17279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wave">
      <a:fgClr>
        <a:schemeClr val="accent6">
          <a:lumMod val="20000"/>
          <a:lumOff val="80000"/>
        </a:schemeClr>
      </a:fgClr>
      <a:bgClr>
        <a:schemeClr val="bg1"/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15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  <a:p>
            <a:r>
              <a:rPr lang="en-IN"/>
              <a:t>Diagram source: user-provided Order Payment Ecosystem Flow image, 11 September 2026. Inserted as supplied; diagram text is part of the image.</a:t>
            </a:r>
          </a:p>
          <a:p>
            <a:r>
              <a:rPr lang="en-IN"/>
              <a:t>Editable key labels restored from supplied ER diagram: regions.region_id PK; customers.customer_id PK and region_id FK; orders.order_line_id PK, customer_id and product_id FK, order_id order reference; products.product_id PK. PK means primary key; FK means foreign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and values preserved. Revenue shown in ₹ millions to 2 decimals; order counts rounded to integers to remove floating-point noise. Ratios are derived from the chart values. Recommendations are proposed actions, </a:t>
            </a:r>
            <a:r>
              <a:t>not </a:t>
            </a:r>
            <a:r>
              <a:rPr lang="en-IN"/>
              <a:t>measured or guaranteed profit gains.</a:t>
            </a:r>
          </a:p>
          <a:p>
            <a:r>
              <a:rPr lang="en-IN"/>
              <a:t>Observation: December 2025 peaked at ₹8.53M</a:t>
            </a:r>
            <a:r>
              <a:t>; </a:t>
            </a:r>
            <a:r>
              <a:rPr lang="en-IN"/>
              <a:t>February 2025 was lowest at ₹5.36M.</a:t>
            </a:r>
          </a:p>
          <a:p>
            <a:r>
              <a:rPr lang="en-IN"/>
              <a:t>Interpretation: Revenue recovered during the second half of 2025, but the annual total still fell 2.14% versus 2024.</a:t>
            </a:r>
          </a:p>
          <a:p>
            <a:r>
              <a:rPr lang="en-IN"/>
              <a:t>Recommendation: Stock up before year-end peaks </a:t>
            </a:r>
            <a:r>
              <a:t>and </a:t>
            </a:r>
            <a:r>
              <a:rPr lang="en-IN"/>
              <a:t>target weak months with margin-safe offers to capture demand without over-discounting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</a:t>
            </a:r>
            <a:r>
              <a:t>and </a:t>
            </a:r>
            <a:r>
              <a:rPr lang="en-IN"/>
              <a:t>values </a:t>
            </a:r>
            <a:r>
              <a:t>preserved. </a:t>
            </a:r>
            <a:r>
              <a:rPr lang="en-IN"/>
              <a:t>Revenue shown in ₹ millions to 2 decimals; order counts rounded to integers to remove floating-point noise. Ratios are derived from the chart values. </a:t>
            </a:r>
            <a:r>
              <a:t>Recommendations are </a:t>
            </a:r>
            <a:r>
              <a:rPr lang="en-IN"/>
              <a:t>proposed </a:t>
            </a:r>
            <a:r>
              <a:t>actions, not measured or guaranteed profit </a:t>
            </a:r>
            <a:r>
              <a:rPr lang="en-IN"/>
              <a:t>gains</a:t>
            </a:r>
            <a:r>
              <a:t>.</a:t>
            </a:r>
          </a:p>
          <a:p>
            <a:r>
              <a:t>Observation: </a:t>
            </a:r>
            <a:r>
              <a:rPr lang="en-IN"/>
              <a:t>February 2025: ₹5.36M from 191 orders. December 2025: ₹8.53M from 212 orders</a:t>
            </a:r>
            <a:r>
              <a:t>.</a:t>
            </a:r>
          </a:p>
          <a:p>
            <a:r>
              <a:t>Interpretation: </a:t>
            </a:r>
            <a:r>
              <a:rPr lang="en-IN"/>
              <a:t>Average </a:t>
            </a:r>
            <a:r>
              <a:t>order value </a:t>
            </a:r>
            <a:r>
              <a:rPr lang="en-IN"/>
              <a:t>rose from ₹28,040 in February to ₹40,238 in December; revenue growth outpaced order growth</a:t>
            </a:r>
            <a:r>
              <a:t>.</a:t>
            </a:r>
          </a:p>
          <a:p>
            <a:r>
              <a:t>Recommendation: Bundle complementary products and cross-sell higher-value items to raise revenue per order; check margins before pricing offers.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and values preserved. Revenue shown in ₹ millions to 2 decimals; order counts rounded to integers to remove floating-point noise. Ratios are derived from the chart values. Recommendations are proposed actions, </a:t>
            </a:r>
            <a:r>
              <a:t>not </a:t>
            </a:r>
            <a:r>
              <a:rPr lang="en-IN"/>
              <a:t>measured or guaranteed profit gains.</a:t>
            </a:r>
          </a:p>
          <a:p>
            <a:r>
              <a:rPr lang="en-IN"/>
              <a:t>Observation: Furniture generates the highest revenue at ₹83.63M</a:t>
            </a:r>
            <a:r>
              <a:t>. </a:t>
            </a:r>
            <a:r>
              <a:rPr lang="en-IN"/>
              <a:t>Electronics leads quantity with 27,000 units.</a:t>
            </a:r>
          </a:p>
          <a:p>
            <a:r>
              <a:rPr lang="en-IN"/>
              <a:t>Interpretation: Furniture supplies 50.3% of revenue</a:t>
            </a:r>
            <a:r>
              <a:t>; </a:t>
            </a:r>
            <a:r>
              <a:rPr lang="en-IN"/>
              <a:t>Electronics supplies 40.0% of quantity. Revenue and volume leaders are not necessarily profit leaders.</a:t>
            </a:r>
          </a:p>
          <a:p>
            <a:r>
              <a:rPr lang="en-IN"/>
              <a:t>Recommendation: Keep Furniture stock available and move slow stock toward stronger demand to avoid missed sales </a:t>
            </a:r>
            <a:r>
              <a:t>and </a:t>
            </a:r>
            <a:r>
              <a:rPr lang="en-IN"/>
              <a:t>reduce holding costs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</a:t>
            </a:r>
            <a:r>
              <a:t>and </a:t>
            </a:r>
            <a:r>
              <a:rPr lang="en-IN"/>
              <a:t>values </a:t>
            </a:r>
            <a:r>
              <a:t>preserved. </a:t>
            </a:r>
            <a:r>
              <a:rPr lang="en-IN"/>
              <a:t>Revenue shown in ₹ millions to 2 decimals; order counts rounded to integers to remove floating-point noise. Ratios are derived from the chart values. </a:t>
            </a:r>
            <a:r>
              <a:t>Recommendations are </a:t>
            </a:r>
            <a:r>
              <a:rPr lang="en-IN"/>
              <a:t>proposed </a:t>
            </a:r>
            <a:r>
              <a:t>actions, not measured or guaranteed profit </a:t>
            </a:r>
            <a:r>
              <a:rPr lang="en-IN"/>
              <a:t>gains</a:t>
            </a:r>
            <a:r>
              <a:t>.</a:t>
            </a:r>
          </a:p>
          <a:p>
            <a:r>
              <a:t>Observation: Office Chair 044 </a:t>
            </a:r>
            <a:r>
              <a:rPr lang="en-IN"/>
              <a:t>leads at </a:t>
            </a:r>
            <a:r>
              <a:t>₹9.40M</a:t>
            </a:r>
            <a:r>
              <a:rPr lang="en-IN"/>
              <a:t>, followed by Office Chair 046 at ₹8.21M</a:t>
            </a:r>
            <a:r>
              <a:t>.</a:t>
            </a:r>
          </a:p>
          <a:p>
            <a:r>
              <a:t>Interpretation: </a:t>
            </a:r>
            <a:r>
              <a:rPr lang="en-IN"/>
              <a:t>Eight of the top ten products are office chairs</a:t>
            </a:r>
            <a:r>
              <a:t>. </a:t>
            </a:r>
            <a:r>
              <a:rPr lang="en-IN"/>
              <a:t>Protecting their availability supports this important </a:t>
            </a:r>
            <a:r>
              <a:t>revenue </a:t>
            </a:r>
            <a:r>
              <a:rPr lang="en-IN"/>
              <a:t>base</a:t>
            </a:r>
            <a:r>
              <a:t>.</a:t>
            </a:r>
          </a:p>
          <a:p>
            <a:r>
              <a:t>Recommendation: Replenish Office Chair 044 and cross-sell related office products to capture more sales per purchase; price bundles to protect margin.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and values preserved. Revenue shown in ₹ millions to 2 decimals; order counts rounded to integers to remove floating-point noise. Ratios are derived from the chart values. Recommendations are proposed actions, </a:t>
            </a:r>
            <a:r>
              <a:t>not </a:t>
            </a:r>
            <a:r>
              <a:rPr lang="en-IN"/>
              <a:t>measured or guaranteed profit gains.</a:t>
            </a:r>
          </a:p>
          <a:p>
            <a:r>
              <a:rPr lang="en-IN"/>
              <a:t>Observation: South: ₹47.46M and 1,500 orders. East: ₹45.17M and 1,000 orders.</a:t>
            </a:r>
          </a:p>
          <a:p>
            <a:r>
              <a:rPr lang="en-IN"/>
              <a:t>Interpretation: South leads revenue and volume, but East earns more per order: ₹45,168 versus South’s ₹31,639.</a:t>
            </a:r>
          </a:p>
          <a:p>
            <a:r>
              <a:rPr lang="en-IN"/>
              <a:t>Recommendation: Keep South well stocked and study East’s higher-value sales mix. Test suitable bundles elsewhere to lift order value while protecting margins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</a:t>
            </a:r>
            <a:r>
              <a:t>and </a:t>
            </a:r>
            <a:r>
              <a:rPr lang="en-IN"/>
              <a:t>values </a:t>
            </a:r>
            <a:r>
              <a:t>preserved. </a:t>
            </a:r>
            <a:r>
              <a:rPr lang="en-IN"/>
              <a:t>Revenue shown in ₹ millions to 2 decimals; order counts rounded to integers to remove floating-point noise. Ratios are derived from the chart values. </a:t>
            </a:r>
            <a:r>
              <a:t>Recommendations are </a:t>
            </a:r>
            <a:r>
              <a:rPr lang="en-IN"/>
              <a:t>proposed </a:t>
            </a:r>
            <a:r>
              <a:t>actions, not measured or guaranteed profit </a:t>
            </a:r>
            <a:r>
              <a:rPr lang="en-IN"/>
              <a:t>gains</a:t>
            </a:r>
            <a:r>
              <a:t>.</a:t>
            </a:r>
          </a:p>
          <a:p>
            <a:r>
              <a:t>Observation: West Bengal leads the displayed states at ₹29.38M; Kerala follows at ₹26.05M.</a:t>
            </a:r>
          </a:p>
          <a:p>
            <a:r>
              <a:t>Interpretation: </a:t>
            </a:r>
            <a:r>
              <a:rPr lang="en-IN"/>
              <a:t>West Bengal and Kerala contribute 47.2% of the revenue shown across these five </a:t>
            </a:r>
            <a:r>
              <a:t>states</a:t>
            </a:r>
            <a:r>
              <a:rPr lang="en-IN"/>
              <a:t>—not 47.2% of total business</a:t>
            </a:r>
            <a:r>
              <a:t> revenue.</a:t>
            </a:r>
          </a:p>
          <a:p>
            <a:r>
              <a:t>Recommendation: Prioritise stock for high-demand states and test targeted promotions to win sales; track fulfilment costs and margins before scaling.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and values preserved. Revenue shown in ₹ millions to 2 decimals; order counts rounded to integers to remove floating-point noise. Ratios are derived from the chart values. Recommendations are proposed actions, </a:t>
            </a:r>
            <a:r>
              <a:t>not </a:t>
            </a:r>
            <a:r>
              <a:rPr lang="en-IN"/>
              <a:t>measured or guaranteed profit gains.</a:t>
            </a:r>
          </a:p>
          <a:p>
            <a:r>
              <a:rPr lang="en-IN"/>
              <a:t>Observation: Regular customers: ₹83.65M from 2,500 orders</a:t>
            </a:r>
            <a:r>
              <a:t>. </a:t>
            </a:r>
            <a:r>
              <a:rPr lang="en-IN"/>
              <a:t>Premium has the highest revenue per order at ₹35,972.</a:t>
            </a:r>
          </a:p>
          <a:p>
            <a:r>
              <a:rPr lang="en-IN"/>
              <a:t>Interpretation: Regular is the largest revenue base. Premium averages ₹35,972 per order versus Regular’s ₹33,462, supporting higher-value offers.</a:t>
            </a:r>
          </a:p>
          <a:p>
            <a:r>
              <a:rPr lang="en-IN"/>
              <a:t>Recommendation: Use loyalty rewards for Regular customers and exclusive Premium bundles to encourage repeat and higher-value purchases</a:t>
            </a:r>
            <a:r>
              <a:t>; </a:t>
            </a:r>
            <a:r>
              <a:rPr lang="en-IN"/>
              <a:t>cap discounts to protect profit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</a:t>
            </a:r>
            <a:r>
              <a:t>and </a:t>
            </a:r>
            <a:r>
              <a:rPr lang="en-IN"/>
              <a:t>values </a:t>
            </a:r>
            <a:r>
              <a:t>preserved. </a:t>
            </a:r>
            <a:r>
              <a:rPr lang="en-IN"/>
              <a:t>Revenue shown in ₹ millions to 2 decimals; order counts rounded to integers to remove floating-point noise. Ratios are derived from the chart values. </a:t>
            </a:r>
            <a:r>
              <a:t>Recommendations are </a:t>
            </a:r>
            <a:r>
              <a:rPr lang="en-IN"/>
              <a:t>proposed </a:t>
            </a:r>
            <a:r>
              <a:t>actions, not measured or guaranteed profit </a:t>
            </a:r>
            <a:r>
              <a:rPr lang="en-IN"/>
              <a:t>gains</a:t>
            </a:r>
            <a:r>
              <a:t>.</a:t>
            </a:r>
          </a:p>
          <a:p>
            <a:r>
              <a:t>Observation: </a:t>
            </a:r>
            <a:r>
              <a:rPr lang="en-IN"/>
              <a:t>Each method has 1,000 orders. </a:t>
            </a:r>
            <a:r>
              <a:t>Net Banking </a:t>
            </a:r>
            <a:r>
              <a:rPr lang="en-IN"/>
              <a:t>leads </a:t>
            </a:r>
            <a:r>
              <a:t>revenue at ₹55.43M</a:t>
            </a:r>
            <a:r>
              <a:rPr lang="en-IN"/>
              <a:t>; Cash on Delivery is lowest at ₹10.49M</a:t>
            </a:r>
            <a:r>
              <a:t>.</a:t>
            </a:r>
          </a:p>
          <a:p>
            <a:r>
              <a:t>Interpretation: Revenue </a:t>
            </a:r>
            <a:r>
              <a:rPr lang="en-IN"/>
              <a:t>differs because order values differ, not order counts. Net Banking’s lead </a:t>
            </a:r>
            <a:r>
              <a:t>does not </a:t>
            </a:r>
            <a:r>
              <a:rPr lang="en-IN"/>
              <a:t>prove lower fees or higher profitability</a:t>
            </a:r>
            <a:r>
              <a:t>.</a:t>
            </a:r>
          </a:p>
          <a:p>
            <a:r>
              <a:t>Recommendation: Keep Net Banking reliable and </a:t>
            </a:r>
            <a:r>
              <a:rPr lang="en-IN"/>
              <a:t>test higher-value bundles for lower-value baskets. Review </a:t>
            </a:r>
            <a:r>
              <a:t>fees and margins</a:t>
            </a:r>
            <a:r>
              <a:rPr lang="en-IN"/>
              <a:t> rather than pushing a method on revenue alone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and values preserved. Revenue shown in ₹ millions to 2 decimals; order counts rounded to integers to remove floating-point noise. Ratios are derived from the chart values. Recommendations are proposed actions, </a:t>
            </a:r>
            <a:r>
              <a:t>not </a:t>
            </a:r>
            <a:r>
              <a:rPr lang="en-IN"/>
              <a:t>measured or guaranteed profit gains.</a:t>
            </a:r>
          </a:p>
          <a:p>
            <a:r>
              <a:rPr lang="en-IN"/>
              <a:t>Observation: 3,106 of 5,000 orders were delivered, equal to 62.1%; the remainder have other statuses.</a:t>
            </a:r>
          </a:p>
          <a:p>
            <a:r>
              <a:rPr lang="en-IN"/>
              <a:t>Interpretation: 28.5% </a:t>
            </a:r>
            <a:r>
              <a:t>are </a:t>
            </a:r>
            <a:r>
              <a:rPr lang="en-IN"/>
              <a:t>shipped or processing; 9.4% are returned or cancelled. Separate pending deliveries from failed or reversed orders.</a:t>
            </a:r>
          </a:p>
          <a:p>
            <a:r>
              <a:rPr lang="en-IN"/>
              <a:t>Recommendation: Speed up processing and investigate return and cancellation causes to complete more sales and reduce avoidable handling costs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</a:t>
            </a:r>
            <a:r>
              <a:rPr lang="en-IN"/>
              <a:t>Native chart values in the current </a:t>
            </a:r>
            <a:r>
              <a:t>retail sales </a:t>
            </a:r>
            <a:r>
              <a:rPr lang="en-IN"/>
              <a:t>presentation</a:t>
            </a:r>
            <a:r>
              <a:t>, 11 September 2026. </a:t>
            </a:r>
            <a:r>
              <a:rPr lang="en-IN"/>
              <a:t>Superseded draft charts removed; replacement chart series </a:t>
            </a:r>
            <a:r>
              <a:t>and </a:t>
            </a:r>
            <a:r>
              <a:rPr lang="en-IN"/>
              <a:t>values </a:t>
            </a:r>
            <a:r>
              <a:t>preserved. </a:t>
            </a:r>
            <a:r>
              <a:rPr lang="en-IN"/>
              <a:t>Revenue shown in ₹ millions to 2 decimals; order counts rounded to integers to remove floating-point noise. Ratios are derived from the chart values. </a:t>
            </a:r>
            <a:r>
              <a:t>Recommendations are </a:t>
            </a:r>
            <a:r>
              <a:rPr lang="en-IN"/>
              <a:t>proposed </a:t>
            </a:r>
            <a:r>
              <a:t>actions, not measured or guaranteed profit </a:t>
            </a:r>
            <a:r>
              <a:rPr lang="en-IN"/>
              <a:t>gains</a:t>
            </a:r>
            <a:r>
              <a:t>.</a:t>
            </a:r>
          </a:p>
          <a:p>
            <a:r>
              <a:t>Observation: Central </a:t>
            </a:r>
            <a:r>
              <a:rPr lang="en-IN"/>
              <a:t>records no </a:t>
            </a:r>
            <a:r>
              <a:t>delivered </a:t>
            </a:r>
            <a:r>
              <a:rPr lang="en-IN"/>
              <a:t>count</a:t>
            </a:r>
            <a:r>
              <a:t>; 389 of 500 orders are shipped.</a:t>
            </a:r>
            <a:r>
              <a:rPr lang="en-IN"/>
              <a:t> South also has 389 shipped orders.</a:t>
            </a:r>
            <a:endParaRPr/>
          </a:p>
          <a:p>
            <a:r>
              <a:t>Interpretation: </a:t>
            </a:r>
            <a:r>
              <a:rPr lang="en-IN"/>
              <a:t>Central’s Delivered cell is blank, not </a:t>
            </a:r>
            <a:r>
              <a:t>an </a:t>
            </a:r>
            <a:r>
              <a:rPr lang="en-IN"/>
              <a:t>explicit zero</a:t>
            </a:r>
            <a:r>
              <a:t>. Verify </a:t>
            </a:r>
            <a:r>
              <a:rPr lang="en-IN"/>
              <a:t>it; South’s delivered rate is only 51.7% (776 of 1,500).</a:t>
            </a:r>
            <a:endParaRPr/>
          </a:p>
          <a:p>
            <a:r>
              <a:t>Recommendation: </a:t>
            </a:r>
            <a:r>
              <a:rPr lang="en-IN"/>
              <a:t>Verify Central’s blank </a:t>
            </a:r>
            <a:r>
              <a:t>status </a:t>
            </a:r>
            <a:r>
              <a:rPr lang="en-IN"/>
              <a:t>and trace its shipments first</a:t>
            </a:r>
            <a:r>
              <a:t>; </a:t>
            </a:r>
            <a:r>
              <a:rPr lang="en-IN"/>
              <a:t>review South’s backlog next </a:t>
            </a:r>
            <a:r>
              <a:t>to complete </a:t>
            </a:r>
            <a:r>
              <a:rPr lang="en-IN"/>
              <a:t>more </a:t>
            </a:r>
            <a:r>
              <a:t>sales and </a:t>
            </a:r>
            <a:r>
              <a:rPr lang="en-IN"/>
              <a:t>reduce avoidable</a:t>
            </a:r>
            <a:r>
              <a:t> support costs.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eight-row Business Insights table, 11 September 2026. Wording condensed for one-slide readability; no external content added. Order fulfilment observation uses the supplied rounded 62%. Other statuses specified by the source: cancelled, processing, returned and shipped.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  <a:p>
            <a:r>
              <a:rPr lang="en-IN"/>
              <a:t>Chart reconciliation: Central Delivered is blank in the native chart. Other Central statuses sum to 500; no delivered count is recorded, but a blank is not itself proof of a delivery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User-provided retail sales analysis outline, 11 September 2026. Figures have not been independently verified. This editable draft uses only supplied figures; missing full chart series and dashboard screenshot are labeled.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987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C41109A-A150-4676-AE6A-B4A9C7B24A8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4476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RJUN AJI  /  RETAIL SALES ANALYSIS">
            <a:extLst>
              <a:ext uri="{FF2B5EF4-FFF2-40B4-BE49-F238E27FC236}">
                <a16:creationId xmlns:a16="http://schemas.microsoft.com/office/drawing/2014/main" id="{F38BBE61-B885-49E6-B916-47B5081622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5E1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9763A22E-07B9-4FB6-A72D-25D8BB6026F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5E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MYSQL  →  EXCEL">
            <a:extLst>
              <a:ext uri="{FF2B5EF4-FFF2-40B4-BE49-F238E27FC236}">
                <a16:creationId xmlns:a16="http://schemas.microsoft.com/office/drawing/2014/main" id="{1E245EED-46D3-44C6-B743-85754EA64604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D5E1"/>
                </a:solidFill>
                <a:latin typeface="Arial"/>
                <a:ea typeface="Arial"/>
                <a:cs typeface="Arial"/>
              </a:rPr>
              <a:t>MYSQL  →  EXCEL</a:t>
            </a:r>
          </a:p>
        </p:txBody>
      </p:sp>
      <p:sp>
        <p:nvSpPr>
          <p:cNvPr id="5" name="Retail Sales&#10;Performance Analysis">
            <a:extLst>
              <a:ext uri="{FF2B5EF4-FFF2-40B4-BE49-F238E27FC236}">
                <a16:creationId xmlns:a16="http://schemas.microsoft.com/office/drawing/2014/main" id="{43169A60-04C0-480A-9377-7334D87B9596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7632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Retail Sales</a:t>
            </a:r>
          </a:p>
          <a:p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 Analysis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4FC57496-AF9C-4FC5-AA6C-39C18D389CAF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047750" cy="0"/>
          </a:xfrm>
          <a:prstGeom prst="line">
            <a:avLst/>
          </a:prstGeom>
          <a:noFill/>
          <a:ln w="12383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From MySQL Database to Excel Dashboard">
            <a:extLst>
              <a:ext uri="{FF2B5EF4-FFF2-40B4-BE49-F238E27FC236}">
                <a16:creationId xmlns:a16="http://schemas.microsoft.com/office/drawing/2014/main" id="{6C704244-CF80-42F0-8854-C39D16BFAD76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MySQL Database to Excel Dashboard</a:t>
            </a:r>
          </a:p>
        </p:txBody>
      </p:sp>
      <p:sp>
        <p:nvSpPr>
          <p:cNvPr id="8" name="Presented by: Arjun Aji">
            <a:extLst>
              <a:ext uri="{FF2B5EF4-FFF2-40B4-BE49-F238E27FC236}">
                <a16:creationId xmlns:a16="http://schemas.microsoft.com/office/drawing/2014/main" id="{09FD2D8B-3E00-4E0F-9E53-CD32E85FE143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Presented by: Arjun Aji</a:t>
            </a:r>
          </a:p>
        </p:txBody>
      </p:sp>
      <p:sp>
        <p:nvSpPr>
          <p:cNvPr id="9" name="Junior Data Analyst">
            <a:extLst>
              <a:ext uri="{FF2B5EF4-FFF2-40B4-BE49-F238E27FC236}">
                <a16:creationId xmlns:a16="http://schemas.microsoft.com/office/drawing/2014/main" id="{F3ABF87C-5658-46E1-85E4-B202FCA05FB1}"/>
              </a:ext>
            </a:extLst>
          </p:cNvPr>
          <p:cNvSpPr>
            <a:spLocks noGrp="1"/>
          </p:cNvSpPr>
          <p:nvPr/>
        </p:nvSpPr>
        <p:spPr>
          <a:xfrm>
            <a:off x="609600" y="5705475"/>
            <a:ext cx="80962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7D5E1"/>
                </a:solidFill>
                <a:latin typeface="Arial"/>
                <a:ea typeface="Arial"/>
                <a:cs typeface="Arial"/>
              </a:rPr>
              <a:t>Junior Data Analyst</a:t>
            </a:r>
          </a:p>
        </p:txBody>
      </p:sp>
    </p:spTree>
    <p:extLst>
      <p:ext uri="{BB962C8B-B14F-4D97-AF65-F5344CB8AC3E}">
        <p14:creationId xmlns:p14="http://schemas.microsoft.com/office/powerpoint/2010/main" val="154455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USINESS PROBLEM AND OBJECTIVES">
            <a:extLst>
              <a:ext uri="{FF2B5EF4-FFF2-40B4-BE49-F238E27FC236}">
                <a16:creationId xmlns:a16="http://schemas.microsoft.com/office/drawing/2014/main" id="{90602F3E-8AB6-4457-814F-73C32BF5FDD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BUSINESS PROBLEM AND OBJECTIVES</a:t>
            </a:r>
          </a:p>
        </p:txBody>
      </p:sp>
      <p:sp>
        <p:nvSpPr>
          <p:cNvPr id="2" name="Turn retail data into business decisions">
            <a:extLst>
              <a:ext uri="{FF2B5EF4-FFF2-40B4-BE49-F238E27FC236}">
                <a16:creationId xmlns:a16="http://schemas.microsoft.com/office/drawing/2014/main" id="{B5DEC8E8-2263-4DEC-AED5-75B2AB79BA8C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Turn retail data into business decisions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A93A4F5-B6D9-4CC5-826E-8E4AE40A945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96EF52A4-9C11-4E24-B21B-AC435D25B15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75F5E6A3-D9DF-4FAB-9470-7EB4D9104330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BUSINESS PROBLEM">
            <a:extLst>
              <a:ext uri="{FF2B5EF4-FFF2-40B4-BE49-F238E27FC236}">
                <a16:creationId xmlns:a16="http://schemas.microsoft.com/office/drawing/2014/main" id="{DCAB3751-2FC4-4D4C-B8BD-156BEC968E20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3714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BUSINESS PROBLEM</a:t>
            </a:r>
          </a:p>
        </p:txBody>
      </p:sp>
      <p:sp>
        <p:nvSpPr>
          <p:cNvPr id="7" name="Management needs a clear view of sales performance, cus">
            <a:extLst>
              <a:ext uri="{FF2B5EF4-FFF2-40B4-BE49-F238E27FC236}">
                <a16:creationId xmlns:a16="http://schemas.microsoft.com/office/drawing/2014/main" id="{5F0B03D4-F268-49E4-A3AA-98B5E0867C8B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3810000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Management needs a clear view of sales performance, customer behaviour, products, regions, and order fulfilment.</a:t>
            </a:r>
          </a:p>
        </p:txBody>
      </p:sp>
      <p:sp>
        <p:nvSpPr>
          <p:cNvPr id="8" name="ANALYSIS OBJECTIVES">
            <a:extLst>
              <a:ext uri="{FF2B5EF4-FFF2-40B4-BE49-F238E27FC236}">
                <a16:creationId xmlns:a16="http://schemas.microsoft.com/office/drawing/2014/main" id="{0DB27D58-D077-4258-B3E4-9417762769E2}"/>
              </a:ext>
            </a:extLst>
          </p:cNvPr>
          <p:cNvSpPr>
            <a:spLocks noGrp="1"/>
          </p:cNvSpPr>
          <p:nvPr/>
        </p:nvSpPr>
        <p:spPr>
          <a:xfrm>
            <a:off x="5276850" y="1866900"/>
            <a:ext cx="6305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ANALYSIS OBJECTIVES</a:t>
            </a:r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B6AAA0A4-C9AE-4690-8C1B-49C1E662755A}"/>
              </a:ext>
            </a:extLst>
          </p:cNvPr>
          <p:cNvSpPr>
            <a:spLocks noGrp="1"/>
          </p:cNvSpPr>
          <p:nvPr/>
        </p:nvSpPr>
        <p:spPr>
          <a:xfrm>
            <a:off x="5276850" y="23431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easure revenue, orders, customers, quantity, and avera">
            <a:extLst>
              <a:ext uri="{FF2B5EF4-FFF2-40B4-BE49-F238E27FC236}">
                <a16:creationId xmlns:a16="http://schemas.microsoft.com/office/drawing/2014/main" id="{5AB928F3-A2D6-4400-B4BE-7618CBD19FD7}"/>
              </a:ext>
            </a:extLst>
          </p:cNvPr>
          <p:cNvSpPr>
            <a:spLocks noGrp="1"/>
          </p:cNvSpPr>
          <p:nvPr/>
        </p:nvSpPr>
        <p:spPr>
          <a:xfrm>
            <a:off x="5962650" y="2333625"/>
            <a:ext cx="5619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Measure revenue, orders, customers, quantity, and average order value.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481FCFDA-8D8C-47C0-8352-41977864C99C}"/>
              </a:ext>
            </a:extLst>
          </p:cNvPr>
          <p:cNvSpPr>
            <a:spLocks noGrp="1"/>
          </p:cNvSpPr>
          <p:nvPr/>
        </p:nvSpPr>
        <p:spPr>
          <a:xfrm>
            <a:off x="5276850" y="3209925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Identify strong and weak products, regions, customer se">
            <a:extLst>
              <a:ext uri="{FF2B5EF4-FFF2-40B4-BE49-F238E27FC236}">
                <a16:creationId xmlns:a16="http://schemas.microsoft.com/office/drawing/2014/main" id="{815BFC06-3803-4318-883F-73B0850994E2}"/>
              </a:ext>
            </a:extLst>
          </p:cNvPr>
          <p:cNvSpPr>
            <a:spLocks noGrp="1"/>
          </p:cNvSpPr>
          <p:nvPr/>
        </p:nvSpPr>
        <p:spPr>
          <a:xfrm>
            <a:off x="5962650" y="3200400"/>
            <a:ext cx="5619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Identify strong and weak products, regions, customer segments, and periods.</a:t>
            </a:r>
          </a:p>
        </p:txBody>
      </p:sp>
      <p:sp>
        <p:nvSpPr>
          <p:cNvPr id="13" name="03">
            <a:extLst>
              <a:ext uri="{FF2B5EF4-FFF2-40B4-BE49-F238E27FC236}">
                <a16:creationId xmlns:a16="http://schemas.microsoft.com/office/drawing/2014/main" id="{6132EB2B-30F3-486E-9573-C5E1FFE727DE}"/>
              </a:ext>
            </a:extLst>
          </p:cNvPr>
          <p:cNvSpPr>
            <a:spLocks noGrp="1"/>
          </p:cNvSpPr>
          <p:nvPr/>
        </p:nvSpPr>
        <p:spPr>
          <a:xfrm>
            <a:off x="5276850" y="407670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Analyse order status and delivery performance.">
            <a:extLst>
              <a:ext uri="{FF2B5EF4-FFF2-40B4-BE49-F238E27FC236}">
                <a16:creationId xmlns:a16="http://schemas.microsoft.com/office/drawing/2014/main" id="{09361FC7-E4F5-4B46-8D9E-55224CBB2269}"/>
              </a:ext>
            </a:extLst>
          </p:cNvPr>
          <p:cNvSpPr>
            <a:spLocks noGrp="1"/>
          </p:cNvSpPr>
          <p:nvPr/>
        </p:nvSpPr>
        <p:spPr>
          <a:xfrm>
            <a:off x="5962650" y="4067175"/>
            <a:ext cx="5619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Analyse order status and delivery performance.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CBED00F4-AEC6-48E0-BBE1-8265255C7721}"/>
              </a:ext>
            </a:extLst>
          </p:cNvPr>
          <p:cNvSpPr>
            <a:spLocks noGrp="1"/>
          </p:cNvSpPr>
          <p:nvPr/>
        </p:nvSpPr>
        <p:spPr>
          <a:xfrm>
            <a:off x="5276850" y="4943475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Recommend actions using the Excel dashboard.">
            <a:extLst>
              <a:ext uri="{FF2B5EF4-FFF2-40B4-BE49-F238E27FC236}">
                <a16:creationId xmlns:a16="http://schemas.microsoft.com/office/drawing/2014/main" id="{F734A531-65A5-47BC-8090-236E7227529B}"/>
              </a:ext>
            </a:extLst>
          </p:cNvPr>
          <p:cNvSpPr>
            <a:spLocks noGrp="1"/>
          </p:cNvSpPr>
          <p:nvPr/>
        </p:nvSpPr>
        <p:spPr>
          <a:xfrm>
            <a:off x="5962650" y="4933950"/>
            <a:ext cx="5619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Recommend actions using the Excel dashboard.</a:t>
            </a:r>
          </a:p>
        </p:txBody>
      </p:sp>
    </p:spTree>
    <p:extLst>
      <p:ext uri="{BB962C8B-B14F-4D97-AF65-F5344CB8AC3E}">
        <p14:creationId xmlns:p14="http://schemas.microsoft.com/office/powerpoint/2010/main" val="1928323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ATA PROVIDED AND ER DIAGRAM">
            <a:extLst>
              <a:ext uri="{FF2B5EF4-FFF2-40B4-BE49-F238E27FC236}">
                <a16:creationId xmlns:a16="http://schemas.microsoft.com/office/drawing/2014/main" id="{98BFD35B-425E-400C-9A63-E8D51A4A2C86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DATA PROVIDED AND ER DIAGRAM</a:t>
            </a:r>
          </a:p>
        </p:txBody>
      </p:sp>
      <p:sp>
        <p:nvSpPr>
          <p:cNvPr id="2" name="Four MySQL tables form the analysis model">
            <a:extLst>
              <a:ext uri="{FF2B5EF4-FFF2-40B4-BE49-F238E27FC236}">
                <a16:creationId xmlns:a16="http://schemas.microsoft.com/office/drawing/2014/main" id="{2265DE36-03FE-4AA9-A728-AF51452F7CE9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Four MySQL tables form the analysis model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DC43277-1FB6-4936-AF96-246A03E50E2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4F761AAD-B5D4-4D75-ADD7-AA6DD6E0D6CF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4D82D7A5-6F3E-4D6B-A453-D0C33AC75F2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RELATIONSHIPS AT ORDER-LINE LEVEL">
            <a:extLst>
              <a:ext uri="{FF2B5EF4-FFF2-40B4-BE49-F238E27FC236}">
                <a16:creationId xmlns:a16="http://schemas.microsoft.com/office/drawing/2014/main" id="{555EC360-CEE5-4C40-93D4-1DDFA978496A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649224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RELATIONSHIPS AT ORDER-LINE LEVEL</a:t>
            </a:r>
          </a:p>
        </p:txBody>
      </p:sp>
      <p:sp>
        <p:nvSpPr>
          <p:cNvPr id="7" name="REGIONS">
            <a:extLst>
              <a:ext uri="{FF2B5EF4-FFF2-40B4-BE49-F238E27FC236}">
                <a16:creationId xmlns:a16="http://schemas.microsoft.com/office/drawing/2014/main" id="{774A3F78-8C71-4AA7-B3E3-550D8C0C4D97}"/>
              </a:ext>
            </a:extLst>
          </p:cNvPr>
          <p:cNvSpPr>
            <a:spLocks noGrp="1"/>
          </p:cNvSpPr>
          <p:nvPr/>
        </p:nvSpPr>
        <p:spPr>
          <a:xfrm>
            <a:off x="609904" y="2194560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REGIONS</a:t>
            </a:r>
          </a:p>
        </p:txBody>
      </p:sp>
      <p:sp>
        <p:nvSpPr>
          <p:cNvPr id="8" name="CUSTOMERS">
            <a:extLst>
              <a:ext uri="{FF2B5EF4-FFF2-40B4-BE49-F238E27FC236}">
                <a16:creationId xmlns:a16="http://schemas.microsoft.com/office/drawing/2014/main" id="{ED23234E-4D9F-4821-86A1-766FB10F9FA8}"/>
              </a:ext>
            </a:extLst>
          </p:cNvPr>
          <p:cNvSpPr>
            <a:spLocks noGrp="1"/>
          </p:cNvSpPr>
          <p:nvPr/>
        </p:nvSpPr>
        <p:spPr>
          <a:xfrm>
            <a:off x="609904" y="2999232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CUSTOMERS</a:t>
            </a:r>
          </a:p>
        </p:txBody>
      </p:sp>
      <p:sp>
        <p:nvSpPr>
          <p:cNvPr id="9" name="ORDERS">
            <a:extLst>
              <a:ext uri="{FF2B5EF4-FFF2-40B4-BE49-F238E27FC236}">
                <a16:creationId xmlns:a16="http://schemas.microsoft.com/office/drawing/2014/main" id="{99A45E16-6F43-42F8-B777-A4E6DC556788}"/>
              </a:ext>
            </a:extLst>
          </p:cNvPr>
          <p:cNvSpPr>
            <a:spLocks noGrp="1"/>
          </p:cNvSpPr>
          <p:nvPr/>
        </p:nvSpPr>
        <p:spPr>
          <a:xfrm>
            <a:off x="609904" y="3803904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ORDERS</a:t>
            </a:r>
          </a:p>
        </p:txBody>
      </p:sp>
      <p:sp>
        <p:nvSpPr>
          <p:cNvPr id="10" name="PRODUCTS">
            <a:extLst>
              <a:ext uri="{FF2B5EF4-FFF2-40B4-BE49-F238E27FC236}">
                <a16:creationId xmlns:a16="http://schemas.microsoft.com/office/drawing/2014/main" id="{22F76313-3C84-4368-B534-CEB02EE28115}"/>
              </a:ext>
            </a:extLst>
          </p:cNvPr>
          <p:cNvSpPr>
            <a:spLocks noGrp="1"/>
          </p:cNvSpPr>
          <p:nvPr/>
        </p:nvSpPr>
        <p:spPr>
          <a:xfrm>
            <a:off x="609904" y="4608576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PRODUCTS</a:t>
            </a:r>
          </a:p>
        </p:txBody>
      </p:sp>
      <p:sp>
        <p:nvSpPr>
          <p:cNvPr id="22" name="Region, state,&#10;country">
            <a:extLst>
              <a:ext uri="{FF2B5EF4-FFF2-40B4-BE49-F238E27FC236}">
                <a16:creationId xmlns:a16="http://schemas.microsoft.com/office/drawing/2014/main" id="{7AD2EF97-B06B-4582-9900-A344C308EA1C}"/>
              </a:ext>
            </a:extLst>
          </p:cNvPr>
          <p:cNvSpPr>
            <a:spLocks noGrp="1"/>
          </p:cNvSpPr>
          <p:nvPr/>
        </p:nvSpPr>
        <p:spPr>
          <a:xfrm>
            <a:off x="2651760" y="2194560"/>
            <a:ext cx="4553712" cy="5212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Region, state,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country</a:t>
            </a:r>
          </a:p>
        </p:txBody>
      </p:sp>
      <p:sp>
        <p:nvSpPr>
          <p:cNvPr id="24" name="Customer details,&#10;segment, city, region">
            <a:extLst>
              <a:ext uri="{FF2B5EF4-FFF2-40B4-BE49-F238E27FC236}">
                <a16:creationId xmlns:a16="http://schemas.microsoft.com/office/drawing/2014/main" id="{08627194-533C-4434-9582-6AD845A69199}"/>
              </a:ext>
            </a:extLst>
          </p:cNvPr>
          <p:cNvSpPr>
            <a:spLocks noGrp="1"/>
          </p:cNvSpPr>
          <p:nvPr/>
        </p:nvSpPr>
        <p:spPr>
          <a:xfrm>
            <a:off x="2651760" y="2999232"/>
            <a:ext cx="4553712" cy="5212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Customer details,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segment, city, region</a:t>
            </a:r>
          </a:p>
        </p:txBody>
      </p:sp>
      <p:sp>
        <p:nvSpPr>
          <p:cNvPr id="26" name="Transactions, quantity,&#10;discount, status,&#10;payment metho">
            <a:extLst>
              <a:ext uri="{FF2B5EF4-FFF2-40B4-BE49-F238E27FC236}">
                <a16:creationId xmlns:a16="http://schemas.microsoft.com/office/drawing/2014/main" id="{7CCD383D-A395-4AF6-BAE5-BF899864A4C9}"/>
              </a:ext>
            </a:extLst>
          </p:cNvPr>
          <p:cNvSpPr>
            <a:spLocks noGrp="1"/>
          </p:cNvSpPr>
          <p:nvPr/>
        </p:nvSpPr>
        <p:spPr>
          <a:xfrm>
            <a:off x="2651760" y="3803904"/>
            <a:ext cx="5412948" cy="5212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Transactions, quantity,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discount, status,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payment method</a:t>
            </a:r>
            <a:endParaRPr lang="en-IN" sz="1650" b="0">
              <a:solidFill>
                <a:srgbClr val="142D4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roduct, category,&#10;subcategory, price">
            <a:extLst>
              <a:ext uri="{FF2B5EF4-FFF2-40B4-BE49-F238E27FC236}">
                <a16:creationId xmlns:a16="http://schemas.microsoft.com/office/drawing/2014/main" id="{BFB8A57C-D3A7-4D5C-83A4-DE8F500649A3}"/>
              </a:ext>
            </a:extLst>
          </p:cNvPr>
          <p:cNvSpPr>
            <a:spLocks noGrp="1"/>
          </p:cNvSpPr>
          <p:nvPr/>
        </p:nvSpPr>
        <p:spPr>
          <a:xfrm>
            <a:off x="2651760" y="4608576"/>
            <a:ext cx="4553712" cy="52120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Product, category,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subcategory, price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0D02C74C-625F-42FE-985E-E43630C23EB0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658368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One order can contain multiple products, so one Order I">
            <a:extLst>
              <a:ext uri="{FF2B5EF4-FFF2-40B4-BE49-F238E27FC236}">
                <a16:creationId xmlns:a16="http://schemas.microsoft.com/office/drawing/2014/main" id="{FEE5D497-948E-45DD-9749-74E2684DE812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6583680" cy="731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One order can contain multiple products, so one Order ID may appear in multiple order lines.</a:t>
            </a:r>
          </a:p>
        </p:txBody>
      </p:sp>
      <p:sp>
        <p:nvSpPr>
          <p:cNvPr id="33" name="Editable keys - REGIONS"/>
          <p:cNvSpPr txBox="1"/>
          <p:nvPr/>
        </p:nvSpPr>
        <p:spPr>
          <a:xfrm>
            <a:off x="609904" y="2575012"/>
            <a:ext cx="6812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44769E"/>
                </a:solidFill>
                <a:latin typeface="Arial"/>
              </a:rPr>
              <a:t>region_id (PK)</a:t>
            </a:r>
          </a:p>
        </p:txBody>
      </p:sp>
      <p:sp>
        <p:nvSpPr>
          <p:cNvPr id="34" name="Editable keys - CUSTOMERS"/>
          <p:cNvSpPr txBox="1"/>
          <p:nvPr/>
        </p:nvSpPr>
        <p:spPr>
          <a:xfrm>
            <a:off x="609904" y="3364694"/>
            <a:ext cx="6812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44769E"/>
                </a:solidFill>
                <a:latin typeface="Arial"/>
              </a:rPr>
              <a:t>customer_id (PK)  •  region_id (FK)</a:t>
            </a:r>
          </a:p>
        </p:txBody>
      </p:sp>
      <p:sp>
        <p:nvSpPr>
          <p:cNvPr id="35" name="Editable keys - ORDERS"/>
          <p:cNvSpPr txBox="1"/>
          <p:nvPr/>
        </p:nvSpPr>
        <p:spPr>
          <a:xfrm>
            <a:off x="609904" y="4154376"/>
            <a:ext cx="6812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44769E"/>
                </a:solidFill>
                <a:latin typeface="Arial"/>
              </a:rPr>
              <a:t>order_line_id (PK)  •  order_id  •  customer_id (FK)  •  product_id (FK)</a:t>
            </a:r>
          </a:p>
        </p:txBody>
      </p:sp>
      <p:sp>
        <p:nvSpPr>
          <p:cNvPr id="36" name="Editable keys - PRODUCTS"/>
          <p:cNvSpPr txBox="1"/>
          <p:nvPr/>
        </p:nvSpPr>
        <p:spPr>
          <a:xfrm>
            <a:off x="609904" y="4929068"/>
            <a:ext cx="6812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>
                <a:solidFill>
                  <a:srgbClr val="44769E"/>
                </a:solidFill>
                <a:latin typeface="Arial"/>
              </a:rPr>
              <a:t>product_id (PK)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2C020E-BDFF-33EB-498B-BE9EA3BF3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288" y="1214671"/>
            <a:ext cx="2887728" cy="50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2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QL ANALYSIS AND ANALYSIS-READY DATASET">
            <a:extLst>
              <a:ext uri="{FF2B5EF4-FFF2-40B4-BE49-F238E27FC236}">
                <a16:creationId xmlns:a16="http://schemas.microsoft.com/office/drawing/2014/main" id="{45611DCB-382D-4EDE-8AFB-6831B00A780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SQL ANALYSIS AND ANALYSIS-READY DATASET</a:t>
            </a:r>
          </a:p>
        </p:txBody>
      </p:sp>
      <p:sp>
        <p:nvSpPr>
          <p:cNvPr id="2" name="SQL turns source tables into analysis-ready data">
            <a:extLst>
              <a:ext uri="{FF2B5EF4-FFF2-40B4-BE49-F238E27FC236}">
                <a16:creationId xmlns:a16="http://schemas.microsoft.com/office/drawing/2014/main" id="{A60D76BD-96A5-4F73-8CEB-23792933C213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SQL turns source tables into analysis-ready data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48BDCFF-8508-4796-BC99-6FC3B979F54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1C86A318-5C17-416F-AF0F-E5E9376D1D3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F0371CA4-F7E3-4EE1-A57F-37C4506472E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REVENUE = QUANTITY × UNIT PRICE × (1 − DISCOUNT)">
            <a:extLst>
              <a:ext uri="{FF2B5EF4-FFF2-40B4-BE49-F238E27FC236}">
                <a16:creationId xmlns:a16="http://schemas.microsoft.com/office/drawing/2014/main" id="{2EFC9140-2067-4912-ACB8-37870C9FF7AA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REVENUE = QUANTITY × UNIT PRICE × (1 − DISCOUNT)</a:t>
            </a:r>
          </a:p>
        </p:txBody>
      </p:sp>
      <p:sp>
        <p:nvSpPr>
          <p:cNvPr id="7" name="SQL WORK PERFORMED">
            <a:extLst>
              <a:ext uri="{FF2B5EF4-FFF2-40B4-BE49-F238E27FC236}">
                <a16:creationId xmlns:a16="http://schemas.microsoft.com/office/drawing/2014/main" id="{3E7D7EDE-B83B-492E-868C-0DEAFDE50EAD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50958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SQL WORK PERFORMED</a:t>
            </a:r>
          </a:p>
        </p:txBody>
      </p:sp>
      <p:sp>
        <p:nvSpPr>
          <p:cNvPr id="8" name="•">
            <a:extLst>
              <a:ext uri="{FF2B5EF4-FFF2-40B4-BE49-F238E27FC236}">
                <a16:creationId xmlns:a16="http://schemas.microsoft.com/office/drawing/2014/main" id="{1879A240-5C84-4E86-BE58-7E2FFF7FEF1E}"/>
              </a:ext>
            </a:extLst>
          </p:cNvPr>
          <p:cNvSpPr>
            <a:spLocks noGrp="1"/>
          </p:cNvSpPr>
          <p:nvPr/>
        </p:nvSpPr>
        <p:spPr>
          <a:xfrm>
            <a:off x="609600" y="3057525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Calculated revenue, total orders, quantity sold, and av">
            <a:extLst>
              <a:ext uri="{FF2B5EF4-FFF2-40B4-BE49-F238E27FC236}">
                <a16:creationId xmlns:a16="http://schemas.microsoft.com/office/drawing/2014/main" id="{A9E0E884-3696-4576-B206-17D9DDA84ADB}"/>
              </a:ext>
            </a:extLst>
          </p:cNvPr>
          <p:cNvSpPr>
            <a:spLocks noGrp="1"/>
          </p:cNvSpPr>
          <p:nvPr/>
        </p:nvSpPr>
        <p:spPr>
          <a:xfrm>
            <a:off x="876300" y="3057525"/>
            <a:ext cx="48291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Calculated revenue, total orders, quantity sold, and average order value.</a:t>
            </a:r>
          </a:p>
        </p:txBody>
      </p:sp>
      <p:sp>
        <p:nvSpPr>
          <p:cNvPr id="10" name="•">
            <a:extLst>
              <a:ext uri="{FF2B5EF4-FFF2-40B4-BE49-F238E27FC236}">
                <a16:creationId xmlns:a16="http://schemas.microsoft.com/office/drawing/2014/main" id="{A0E4C61F-1030-49FD-ABB1-03E2BC207E0E}"/>
              </a:ext>
            </a:extLst>
          </p:cNvPr>
          <p:cNvSpPr>
            <a:spLocks noGrp="1"/>
          </p:cNvSpPr>
          <p:nvPr/>
        </p:nvSpPr>
        <p:spPr>
          <a:xfrm>
            <a:off x="609600" y="3876675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Analysed months, categories, products, customers, regio">
            <a:extLst>
              <a:ext uri="{FF2B5EF4-FFF2-40B4-BE49-F238E27FC236}">
                <a16:creationId xmlns:a16="http://schemas.microsoft.com/office/drawing/2014/main" id="{3FDF5656-4F2A-48B8-B714-C94BDE2A52FA}"/>
              </a:ext>
            </a:extLst>
          </p:cNvPr>
          <p:cNvSpPr>
            <a:spLocks noGrp="1"/>
          </p:cNvSpPr>
          <p:nvPr/>
        </p:nvSpPr>
        <p:spPr>
          <a:xfrm>
            <a:off x="876300" y="3876675"/>
            <a:ext cx="4829175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Analysed months, categories, products, customers, regions, states, payments, and statuses.</a:t>
            </a:r>
          </a:p>
        </p:txBody>
      </p:sp>
      <p:sp>
        <p:nvSpPr>
          <p:cNvPr id="12" name="INNER JOIN • LEFT JOIN • SUM • COUNT • AVG&#10;GROUP BY • H">
            <a:extLst>
              <a:ext uri="{FF2B5EF4-FFF2-40B4-BE49-F238E27FC236}">
                <a16:creationId xmlns:a16="http://schemas.microsoft.com/office/drawing/2014/main" id="{9311ED1D-AE0B-45FF-867D-C5CB2AE4AD3B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509587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INNER JOIN • LEFT JOIN • SUM • COUNT • AVG</a:t>
            </a:r>
          </a:p>
          <a:p>
            <a:pPr algn="l">
              <a:defRPr sz="15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GROUP BY • HAVING • ORDER BY</a:t>
            </a:r>
          </a:p>
          <a:p>
            <a:pPr algn="l">
              <a:defRPr sz="15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Date functions • Top-10 analysis</a:t>
            </a:r>
          </a:p>
        </p:txBody>
      </p:sp>
      <p:sp>
        <p:nvSpPr>
          <p:cNvPr id="13" name="FINAL DATASET FOR EXCEL">
            <a:extLst>
              <a:ext uri="{FF2B5EF4-FFF2-40B4-BE49-F238E27FC236}">
                <a16:creationId xmlns:a16="http://schemas.microsoft.com/office/drawing/2014/main" id="{2A35E9AE-D563-43A2-874B-1B769C8CF4D4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51244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FINAL DATASET FOR EXCEL</a:t>
            </a:r>
          </a:p>
        </p:txBody>
      </p:sp>
      <p:sp>
        <p:nvSpPr>
          <p:cNvPr id="14" name="•">
            <a:extLst>
              <a:ext uri="{FF2B5EF4-FFF2-40B4-BE49-F238E27FC236}">
                <a16:creationId xmlns:a16="http://schemas.microsoft.com/office/drawing/2014/main" id="{392106E7-134F-443E-8FE9-7C04F3F31C78}"/>
              </a:ext>
            </a:extLst>
          </p:cNvPr>
          <p:cNvSpPr>
            <a:spLocks noGrp="1"/>
          </p:cNvSpPr>
          <p:nvPr/>
        </p:nvSpPr>
        <p:spPr>
          <a:xfrm>
            <a:off x="6457950" y="3048000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Order and customer details">
            <a:extLst>
              <a:ext uri="{FF2B5EF4-FFF2-40B4-BE49-F238E27FC236}">
                <a16:creationId xmlns:a16="http://schemas.microsoft.com/office/drawing/2014/main" id="{01F5C1C7-CCDB-4EF7-88D1-E0B850F94721}"/>
              </a:ext>
            </a:extLst>
          </p:cNvPr>
          <p:cNvSpPr>
            <a:spLocks noGrp="1"/>
          </p:cNvSpPr>
          <p:nvPr/>
        </p:nvSpPr>
        <p:spPr>
          <a:xfrm>
            <a:off x="6724650" y="30480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Order and customer details</a:t>
            </a:r>
          </a:p>
        </p:txBody>
      </p:sp>
      <p:sp>
        <p:nvSpPr>
          <p:cNvPr id="16" name="•">
            <a:extLst>
              <a:ext uri="{FF2B5EF4-FFF2-40B4-BE49-F238E27FC236}">
                <a16:creationId xmlns:a16="http://schemas.microsoft.com/office/drawing/2014/main" id="{299C0D61-E759-4868-B1CA-2D16A6C4F0F9}"/>
              </a:ext>
            </a:extLst>
          </p:cNvPr>
          <p:cNvSpPr>
            <a:spLocks noGrp="1"/>
          </p:cNvSpPr>
          <p:nvPr/>
        </p:nvSpPr>
        <p:spPr>
          <a:xfrm>
            <a:off x="6457950" y="3657600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Product and category details">
            <a:extLst>
              <a:ext uri="{FF2B5EF4-FFF2-40B4-BE49-F238E27FC236}">
                <a16:creationId xmlns:a16="http://schemas.microsoft.com/office/drawing/2014/main" id="{AEA1D98E-8696-49A8-9AEB-E8F7FB63A275}"/>
              </a:ext>
            </a:extLst>
          </p:cNvPr>
          <p:cNvSpPr>
            <a:spLocks noGrp="1"/>
          </p:cNvSpPr>
          <p:nvPr/>
        </p:nvSpPr>
        <p:spPr>
          <a:xfrm>
            <a:off x="6724650" y="36576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Product and category details</a:t>
            </a:r>
          </a:p>
        </p:txBody>
      </p:sp>
      <p:sp>
        <p:nvSpPr>
          <p:cNvPr id="18" name="•">
            <a:extLst>
              <a:ext uri="{FF2B5EF4-FFF2-40B4-BE49-F238E27FC236}">
                <a16:creationId xmlns:a16="http://schemas.microsoft.com/office/drawing/2014/main" id="{5A3DFB97-C8F5-43F9-991C-A6397478BCC0}"/>
              </a:ext>
            </a:extLst>
          </p:cNvPr>
          <p:cNvSpPr>
            <a:spLocks noGrp="1"/>
          </p:cNvSpPr>
          <p:nvPr/>
        </p:nvSpPr>
        <p:spPr>
          <a:xfrm>
            <a:off x="6457950" y="4267200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Region, state, and city">
            <a:extLst>
              <a:ext uri="{FF2B5EF4-FFF2-40B4-BE49-F238E27FC236}">
                <a16:creationId xmlns:a16="http://schemas.microsoft.com/office/drawing/2014/main" id="{FF461F34-7997-44B2-B62A-8A46CCE08D5B}"/>
              </a:ext>
            </a:extLst>
          </p:cNvPr>
          <p:cNvSpPr>
            <a:spLocks noGrp="1"/>
          </p:cNvSpPr>
          <p:nvPr/>
        </p:nvSpPr>
        <p:spPr>
          <a:xfrm>
            <a:off x="6724650" y="42672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Region, state, and city</a:t>
            </a:r>
          </a:p>
        </p:txBody>
      </p:sp>
      <p:sp>
        <p:nvSpPr>
          <p:cNvPr id="20" name="•">
            <a:extLst>
              <a:ext uri="{FF2B5EF4-FFF2-40B4-BE49-F238E27FC236}">
                <a16:creationId xmlns:a16="http://schemas.microsoft.com/office/drawing/2014/main" id="{D3784D5D-01C0-43EE-813E-446EB0218973}"/>
              </a:ext>
            </a:extLst>
          </p:cNvPr>
          <p:cNvSpPr>
            <a:spLocks noGrp="1"/>
          </p:cNvSpPr>
          <p:nvPr/>
        </p:nvSpPr>
        <p:spPr>
          <a:xfrm>
            <a:off x="6457950" y="4876800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1" name="Quantity, price, discount, calculated revenue">
            <a:extLst>
              <a:ext uri="{FF2B5EF4-FFF2-40B4-BE49-F238E27FC236}">
                <a16:creationId xmlns:a16="http://schemas.microsoft.com/office/drawing/2014/main" id="{C109AB5F-7C63-49A8-A3B6-2D6402B56D54}"/>
              </a:ext>
            </a:extLst>
          </p:cNvPr>
          <p:cNvSpPr>
            <a:spLocks noGrp="1"/>
          </p:cNvSpPr>
          <p:nvPr/>
        </p:nvSpPr>
        <p:spPr>
          <a:xfrm>
            <a:off x="6724650" y="48768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Quantity, price, discount, calculated revenue</a:t>
            </a:r>
          </a:p>
        </p:txBody>
      </p:sp>
      <p:sp>
        <p:nvSpPr>
          <p:cNvPr id="22" name="•">
            <a:extLst>
              <a:ext uri="{FF2B5EF4-FFF2-40B4-BE49-F238E27FC236}">
                <a16:creationId xmlns:a16="http://schemas.microsoft.com/office/drawing/2014/main" id="{3AFB1332-8328-49B1-A084-981AB19ACB92}"/>
              </a:ext>
            </a:extLst>
          </p:cNvPr>
          <p:cNvSpPr>
            <a:spLocks noGrp="1"/>
          </p:cNvSpPr>
          <p:nvPr/>
        </p:nvSpPr>
        <p:spPr>
          <a:xfrm>
            <a:off x="6457950" y="5486400"/>
            <a:ext cx="1714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Order status and payment method">
            <a:extLst>
              <a:ext uri="{FF2B5EF4-FFF2-40B4-BE49-F238E27FC236}">
                <a16:creationId xmlns:a16="http://schemas.microsoft.com/office/drawing/2014/main" id="{7A54EE9E-3E7F-4CFC-AC0B-6BC9543712E1}"/>
              </a:ext>
            </a:extLst>
          </p:cNvPr>
          <p:cNvSpPr>
            <a:spLocks noGrp="1"/>
          </p:cNvSpPr>
          <p:nvPr/>
        </p:nvSpPr>
        <p:spPr>
          <a:xfrm>
            <a:off x="6724650" y="5486400"/>
            <a:ext cx="48577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Order status and payment method</a:t>
            </a:r>
          </a:p>
        </p:txBody>
      </p:sp>
    </p:spTree>
    <p:extLst>
      <p:ext uri="{BB962C8B-B14F-4D97-AF65-F5344CB8AC3E}">
        <p14:creationId xmlns:p14="http://schemas.microsoft.com/office/powerpoint/2010/main" val="166906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EXCEL PREPARATION, KPIS, AND DASHBOARD">
            <a:extLst>
              <a:ext uri="{FF2B5EF4-FFF2-40B4-BE49-F238E27FC236}">
                <a16:creationId xmlns:a16="http://schemas.microsoft.com/office/drawing/2014/main" id="{17ADE9B2-1141-495B-8EB8-F820FF164C81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EXCEL PREPARATION, KPIS, AND DASHBOARD</a:t>
            </a:r>
          </a:p>
        </p:txBody>
      </p:sp>
      <p:sp>
        <p:nvSpPr>
          <p:cNvPr id="2" name="₹166.38M revenue across 5,000 orders">
            <a:extLst>
              <a:ext uri="{FF2B5EF4-FFF2-40B4-BE49-F238E27FC236}">
                <a16:creationId xmlns:a16="http://schemas.microsoft.com/office/drawing/2014/main" id="{A9B0200C-20EA-48F5-9787-B3BC0964B96B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₹166.38M revenue across 5,000 orders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BAD49C9-5647-4F60-8167-26AE2EC99A0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A8FF0A4A-8734-4744-B08D-24BCDAD2B115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72F07DD3-718C-4AE8-90C5-972D26179774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SQL output → Excel Table → KPIs, PivotTables, PivotChar">
            <a:extLst>
              <a:ext uri="{FF2B5EF4-FFF2-40B4-BE49-F238E27FC236}">
                <a16:creationId xmlns:a16="http://schemas.microsoft.com/office/drawing/2014/main" id="{88FC029D-CCAD-40D5-B264-2B6FE18E4CE1}"/>
              </a:ext>
            </a:extLst>
          </p:cNvPr>
          <p:cNvSpPr>
            <a:spLocks noGrp="1"/>
          </p:cNvSpPr>
          <p:nvPr/>
        </p:nvSpPr>
        <p:spPr>
          <a:xfrm>
            <a:off x="609600" y="1704975"/>
            <a:ext cx="109728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SQL output → Excel Table → KPIs, PivotTables, PivotCharts, slicers, and dashboard visuals</a:t>
            </a:r>
          </a:p>
        </p:txBody>
      </p:sp>
      <p:sp>
        <p:nvSpPr>
          <p:cNvPr id="7" name="₹166.38M">
            <a:extLst>
              <a:ext uri="{FF2B5EF4-FFF2-40B4-BE49-F238E27FC236}">
                <a16:creationId xmlns:a16="http://schemas.microsoft.com/office/drawing/2014/main" id="{03B072B9-0793-499F-A032-05D9D393AD93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276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₹166.38M</a:t>
            </a:r>
          </a:p>
        </p:txBody>
      </p:sp>
      <p:sp>
        <p:nvSpPr>
          <p:cNvPr id="8" name="Total Revenue">
            <a:extLst>
              <a:ext uri="{FF2B5EF4-FFF2-40B4-BE49-F238E27FC236}">
                <a16:creationId xmlns:a16="http://schemas.microsoft.com/office/drawing/2014/main" id="{98E0DA2E-BF24-480C-94A4-919B87165F40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Total Revenue</a:t>
            </a:r>
          </a:p>
        </p:txBody>
      </p:sp>
      <p:sp>
        <p:nvSpPr>
          <p:cNvPr id="9" name="5,000">
            <a:extLst>
              <a:ext uri="{FF2B5EF4-FFF2-40B4-BE49-F238E27FC236}">
                <a16:creationId xmlns:a16="http://schemas.microsoft.com/office/drawing/2014/main" id="{C5667F4F-ABE7-451D-AF10-5D6DD19FEF19}"/>
              </a:ext>
            </a:extLst>
          </p:cNvPr>
          <p:cNvSpPr>
            <a:spLocks noGrp="1"/>
          </p:cNvSpPr>
          <p:nvPr/>
        </p:nvSpPr>
        <p:spPr>
          <a:xfrm>
            <a:off x="3657600" y="2495550"/>
            <a:ext cx="2286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5,000</a:t>
            </a:r>
          </a:p>
        </p:txBody>
      </p:sp>
      <p:sp>
        <p:nvSpPr>
          <p:cNvPr id="10" name="Total Orders">
            <a:extLst>
              <a:ext uri="{FF2B5EF4-FFF2-40B4-BE49-F238E27FC236}">
                <a16:creationId xmlns:a16="http://schemas.microsoft.com/office/drawing/2014/main" id="{3CFCA85E-119D-4CD8-A63C-0A775B2693F1}"/>
              </a:ext>
            </a:extLst>
          </p:cNvPr>
          <p:cNvSpPr>
            <a:spLocks noGrp="1"/>
          </p:cNvSpPr>
          <p:nvPr/>
        </p:nvSpPr>
        <p:spPr>
          <a:xfrm>
            <a:off x="3657600" y="3114675"/>
            <a:ext cx="2286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Total Orders</a:t>
            </a:r>
          </a:p>
        </p:txBody>
      </p:sp>
      <p:sp>
        <p:nvSpPr>
          <p:cNvPr id="11" name="1,000">
            <a:extLst>
              <a:ext uri="{FF2B5EF4-FFF2-40B4-BE49-F238E27FC236}">
                <a16:creationId xmlns:a16="http://schemas.microsoft.com/office/drawing/2014/main" id="{F0C0D91C-1191-48EA-9E44-84C00D66D1FA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276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2" name="Total Customers">
            <a:extLst>
              <a:ext uri="{FF2B5EF4-FFF2-40B4-BE49-F238E27FC236}">
                <a16:creationId xmlns:a16="http://schemas.microsoft.com/office/drawing/2014/main" id="{0F35DE9D-5C88-4DDF-A624-B30B2F1FD958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Total Customers</a:t>
            </a:r>
          </a:p>
        </p:txBody>
      </p:sp>
      <p:sp>
        <p:nvSpPr>
          <p:cNvPr id="13" name="67,500">
            <a:extLst>
              <a:ext uri="{FF2B5EF4-FFF2-40B4-BE49-F238E27FC236}">
                <a16:creationId xmlns:a16="http://schemas.microsoft.com/office/drawing/2014/main" id="{4882BC1E-B52E-4879-AE23-1B435A25495E}"/>
              </a:ext>
            </a:extLst>
          </p:cNvPr>
          <p:cNvSpPr>
            <a:spLocks noGrp="1"/>
          </p:cNvSpPr>
          <p:nvPr/>
        </p:nvSpPr>
        <p:spPr>
          <a:xfrm>
            <a:off x="3657600" y="3762375"/>
            <a:ext cx="2428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67,500</a:t>
            </a:r>
          </a:p>
        </p:txBody>
      </p:sp>
      <p:sp>
        <p:nvSpPr>
          <p:cNvPr id="14" name="Total Quantity Sold">
            <a:extLst>
              <a:ext uri="{FF2B5EF4-FFF2-40B4-BE49-F238E27FC236}">
                <a16:creationId xmlns:a16="http://schemas.microsoft.com/office/drawing/2014/main" id="{B98F1C0C-C616-47A2-AC9A-0108A3CE0B4F}"/>
              </a:ext>
            </a:extLst>
          </p:cNvPr>
          <p:cNvSpPr>
            <a:spLocks noGrp="1"/>
          </p:cNvSpPr>
          <p:nvPr/>
        </p:nvSpPr>
        <p:spPr>
          <a:xfrm>
            <a:off x="3657600" y="4381500"/>
            <a:ext cx="2428875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Total Quantity Sold</a:t>
            </a:r>
          </a:p>
        </p:txBody>
      </p:sp>
      <p:sp>
        <p:nvSpPr>
          <p:cNvPr id="15" name="₹33,276">
            <a:extLst>
              <a:ext uri="{FF2B5EF4-FFF2-40B4-BE49-F238E27FC236}">
                <a16:creationId xmlns:a16="http://schemas.microsoft.com/office/drawing/2014/main" id="{F3329BE1-18FC-43B3-887D-1D6697429CC3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2762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₹33,276</a:t>
            </a:r>
          </a:p>
        </p:txBody>
      </p:sp>
      <p:sp>
        <p:nvSpPr>
          <p:cNvPr id="16" name="Average Order Value">
            <a:extLst>
              <a:ext uri="{FF2B5EF4-FFF2-40B4-BE49-F238E27FC236}">
                <a16:creationId xmlns:a16="http://schemas.microsoft.com/office/drawing/2014/main" id="{D72F0DFC-1CBC-483F-858E-8DF8FC8969E4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2762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Average Order Value</a:t>
            </a:r>
          </a:p>
        </p:txBody>
      </p:sp>
      <p:sp>
        <p:nvSpPr>
          <p:cNvPr id="17" name="−2.14%">
            <a:extLst>
              <a:ext uri="{FF2B5EF4-FFF2-40B4-BE49-F238E27FC236}">
                <a16:creationId xmlns:a16="http://schemas.microsoft.com/office/drawing/2014/main" id="{351B1573-1C43-4BF7-8F7A-5074A7A233EB}"/>
              </a:ext>
            </a:extLst>
          </p:cNvPr>
          <p:cNvSpPr>
            <a:spLocks noGrp="1"/>
          </p:cNvSpPr>
          <p:nvPr/>
        </p:nvSpPr>
        <p:spPr>
          <a:xfrm>
            <a:off x="3657600" y="5029200"/>
            <a:ext cx="23812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0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0000"/>
                </a:solidFill>
                <a:latin typeface="Arial"/>
                <a:ea typeface="Arial"/>
                <a:cs typeface="Arial"/>
              </a:rPr>
              <a:t>−2.14%</a:t>
            </a:r>
          </a:p>
        </p:txBody>
      </p:sp>
      <p:sp>
        <p:nvSpPr>
          <p:cNvPr id="18" name="Revenue Growth, 2024–2025">
            <a:extLst>
              <a:ext uri="{FF2B5EF4-FFF2-40B4-BE49-F238E27FC236}">
                <a16:creationId xmlns:a16="http://schemas.microsoft.com/office/drawing/2014/main" id="{3DE720E1-1C96-4598-A089-B4B5AB9F2B9F}"/>
              </a:ext>
            </a:extLst>
          </p:cNvPr>
          <p:cNvSpPr>
            <a:spLocks noGrp="1"/>
          </p:cNvSpPr>
          <p:nvPr/>
        </p:nvSpPr>
        <p:spPr>
          <a:xfrm>
            <a:off x="3657600" y="5648325"/>
            <a:ext cx="23812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Revenue Growth, 2024–2025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A8B2216-AF54-405C-94AB-ED380FD678E8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47244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DASHBOARD SCREENSHOT">
            <a:extLst>
              <a:ext uri="{FF2B5EF4-FFF2-40B4-BE49-F238E27FC236}">
                <a16:creationId xmlns:a16="http://schemas.microsoft.com/office/drawing/2014/main" id="{D80A52AF-2CBE-4BE1-9BEE-1147A1A6616D}"/>
              </a:ext>
            </a:extLst>
          </p:cNvPr>
          <p:cNvSpPr>
            <a:spLocks noGrp="1"/>
          </p:cNvSpPr>
          <p:nvPr/>
        </p:nvSpPr>
        <p:spPr>
          <a:xfrm>
            <a:off x="6858000" y="2686050"/>
            <a:ext cx="4724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DASHBOARD SCREENSHOT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4102058F-7B2A-4CB3-9EE0-441808FC883F}"/>
              </a:ext>
            </a:extLst>
          </p:cNvPr>
          <p:cNvSpPr>
            <a:spLocks noGrp="1"/>
          </p:cNvSpPr>
          <p:nvPr/>
        </p:nvSpPr>
        <p:spPr>
          <a:xfrm>
            <a:off x="6858000" y="5905500"/>
            <a:ext cx="47244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A31ECF4-506F-AA13-2BA3-8F1631A968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50" r="6050"/>
          <a:stretch>
            <a:fillRect/>
          </a:stretch>
        </p:blipFill>
        <p:spPr>
          <a:xfrm>
            <a:off x="6858000" y="2971802"/>
            <a:ext cx="5211658" cy="2790824"/>
          </a:xfrm>
          <a:prstGeom prst="rect">
            <a:avLst/>
          </a:prstGeom>
        </p:spPr>
      </p:pic>
      <p:sp>
        <p:nvSpPr>
          <p:cNvPr id="26" name="Revenue recognition clarification"/>
          <p:cNvSpPr txBox="1"/>
          <p:nvPr/>
        </p:nvSpPr>
        <p:spPr>
          <a:xfrm>
            <a:off x="6858000" y="5989320"/>
            <a:ext cx="4724704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536879"/>
                </a:solidFill>
                <a:latin typeface="Arial"/>
              </a:rPr>
              <a:t>Note: Total revenue is unconfirmed; it includes undelivered, cancelled and returned orders.</a:t>
            </a:r>
          </a:p>
        </p:txBody>
      </p:sp>
    </p:spTree>
    <p:extLst>
      <p:ext uri="{BB962C8B-B14F-4D97-AF65-F5344CB8AC3E}">
        <p14:creationId xmlns:p14="http://schemas.microsoft.com/office/powerpoint/2010/main" val="33522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ONTHLY REVENUE TREND AND REVENUE VS ORDERS">
            <a:extLst>
              <a:ext uri="{FF2B5EF4-FFF2-40B4-BE49-F238E27FC236}">
                <a16:creationId xmlns:a16="http://schemas.microsoft.com/office/drawing/2014/main" id="{1D3F831D-52D0-4880-A9DF-F5F5028BF1F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ORDER VALUE DISTRIBUTION BY STATUS</a:t>
            </a:r>
          </a:p>
        </p:txBody>
      </p:sp>
      <p:sp>
        <p:nvSpPr>
          <p:cNvPr id="2" name="Revenue softened despite strong year-end sales">
            <a:extLst>
              <a:ext uri="{FF2B5EF4-FFF2-40B4-BE49-F238E27FC236}">
                <a16:creationId xmlns:a16="http://schemas.microsoft.com/office/drawing/2014/main" id="{CE82118B-1E3E-4829-BF86-40EEA6BCFD3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Delivered orders account for ₹122.72M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3DDEEA-D558-46A4-8A9A-7E6308A9856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5DCC87E3-CDF7-438A-8FA8-87A87FBA746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1024128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Source: ARJUNAJI_Retail_Data • All-status order value after discount; not recognised revenue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2747B687-7741-4EAB-BF77-A9C37B5EFFD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Monthly revenue • 2024–2025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Value after discount • January 2024–December 2025 • Total: ₹166.38M</a:t>
            </a:r>
          </a:p>
        </p:txBody>
      </p:sp>
      <p:sp>
        <p:nvSpPr>
          <p:cNvPr id="22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3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4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5" name="December 2025 peaked at ₹8.53M; February 2025 was lowest at ₹5.36"/>
          <p:cNvSpPr txBox="1"/>
          <p:nvPr/>
        </p:nvSpPr>
        <p:spPr>
          <a:xfrm>
            <a:off x="609904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Delivered: ₹122.72M (73.8%). Shipped + Processing: ₹28.11M (16.9%). Cancelled + Returned: ₹15.55M (9.3%).</a:t>
            </a:r>
          </a:p>
        </p:txBody>
      </p:sp>
      <p:sp>
        <p:nvSpPr>
          <p:cNvPr id="26" name="Demand varies by month. Strong year-end sales did not prevent the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₹43.66M relates to orders not marked Delivered. These are status-based order values, not confirmed accounting revenue.</a:t>
            </a:r>
          </a:p>
        </p:txBody>
      </p:sp>
      <p:sp>
        <p:nvSpPr>
          <p:cNvPr id="27" name="Stock up before year-end peaks and target weak months with margin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Validate pending shipments and resolve confirmed issues. Analyse cancellations and returns to complete more sales and reduce avoidable costs.</a:t>
            </a:r>
          </a:p>
        </p:txBody>
      </p:sp>
      <p:cxnSp>
        <p:nvCxnSpPr>
          <p:cNvPr id="28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hart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770308"/>
              </p:ext>
            </p:extLst>
          </p:nvPr>
        </p:nvGraphicFramePr>
        <p:xfrm>
          <a:off x="731520" y="1691640"/>
          <a:ext cx="106527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ONTHLY REVENUE TREND AND REVENUE VS ORDERS">
            <a:extLst>
              <a:ext uri="{FF2B5EF4-FFF2-40B4-BE49-F238E27FC236}">
                <a16:creationId xmlns:a16="http://schemas.microsoft.com/office/drawing/2014/main" id="{1D3F831D-52D0-4880-A9DF-F5F5028BF1F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MONTHLY REVENUE TREND</a:t>
            </a:r>
          </a:p>
        </p:txBody>
      </p:sp>
      <p:sp>
        <p:nvSpPr>
          <p:cNvPr id="2" name="Revenue softened despite strong year-end sales">
            <a:extLst>
              <a:ext uri="{FF2B5EF4-FFF2-40B4-BE49-F238E27FC236}">
                <a16:creationId xmlns:a16="http://schemas.microsoft.com/office/drawing/2014/main" id="{CE82118B-1E3E-4829-BF86-40EEA6BCFD3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Year-end demand offers a sales opportunity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3DDEEA-D558-46A4-8A9A-7E6308A9856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5DCC87E3-CDF7-438A-8FA8-87A87FBA746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2747B687-7741-4EAB-BF77-A9C37B5EFFD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07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Monthly revenue • 2024–2025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Monthly revenue • 2024–2025</a:t>
            </a:r>
          </a:p>
        </p:txBody>
      </p:sp>
      <p:sp>
        <p:nvSpPr>
          <p:cNvPr id="22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3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4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5" name="December 2025 peaked at ₹8.53M; February 2025 was lowest at ₹5.36"/>
          <p:cNvSpPr txBox="1"/>
          <p:nvPr/>
        </p:nvSpPr>
        <p:spPr>
          <a:xfrm>
            <a:off x="609904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December 2025 peaked at ₹8.53M; February 2025 was lowest at ₹5.36M.</a:t>
            </a:r>
          </a:p>
        </p:txBody>
      </p:sp>
      <p:sp>
        <p:nvSpPr>
          <p:cNvPr id="26" name="Demand varies by month. Strong year-end sales did not prevent the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Revenue recovered during the second half of 2025, but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the annual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total still fell 2.14% versus 2024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Stock up before year-end peaks and target weak months with margin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Stock up before year-end peaks and target weak months with margin-safe offers to capture demand without over-discounting.</a:t>
            </a:r>
          </a:p>
        </p:txBody>
      </p:sp>
      <p:cxnSp>
        <p:nvCxnSpPr>
          <p:cNvPr id="28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C756EE69-38E8-6C4D-9D13-1133F251C9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3887039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7200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ONTHLY REVENUE TREND AND REVENUE VS ORDERS">
            <a:extLst>
              <a:ext uri="{FF2B5EF4-FFF2-40B4-BE49-F238E27FC236}">
                <a16:creationId xmlns:a16="http://schemas.microsoft.com/office/drawing/2014/main" id="{1D3F831D-52D0-4880-A9DF-F5F5028BF1F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REVENUE VS ORDERS</a:t>
            </a:r>
          </a:p>
        </p:txBody>
      </p:sp>
      <p:sp>
        <p:nvSpPr>
          <p:cNvPr id="2" name="Revenue softened despite strong year-end sales">
            <a:extLst>
              <a:ext uri="{FF2B5EF4-FFF2-40B4-BE49-F238E27FC236}">
                <a16:creationId xmlns:a16="http://schemas.microsoft.com/office/drawing/2014/main" id="{CE82118B-1E3E-4829-BF86-40EEA6BCFD3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Grow the value of each order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93DDEEA-D558-46A4-8A9A-7E6308A9856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5DCC87E3-CDF7-438A-8FA8-87A87FBA746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2747B687-7741-4EAB-BF77-A9C37B5EFFD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08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Annual revenue: 2024 ₹84.09M → 2025 ₹82.29M (−2.14%)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Annual revenue: 2024 ₹84.09M → 2025 ₹82.29M (−2.14%)</a:t>
            </a:r>
          </a:p>
        </p:txBody>
      </p:sp>
      <p:sp>
        <p:nvSpPr>
          <p:cNvPr id="23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4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5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6" name="Revenue and order volume fluctuate across months and do not alway"/>
          <p:cNvSpPr txBox="1"/>
          <p:nvPr/>
        </p:nvSpPr>
        <p:spPr>
          <a:xfrm>
            <a:off x="609904" y="5010912"/>
            <a:ext cx="3246120" cy="76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February 2025: ₹5.36M from 191 orders. December 2025: ₹8.53M from 212 orders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More orders do not automatically produce proportionally higher re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Average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order value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rose from ₹28,040 in February to ₹40,238 in December; revenue growth outpaced order growth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8" name="Bundle complementary products and cross-sell higher-value items t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Bundle complementary products and cross-sell higher-value items to raise revenue per order; check margins before pricing offers.</a:t>
            </a:r>
          </a:p>
        </p:txBody>
      </p:sp>
      <p:cxnSp>
        <p:nvCxnSpPr>
          <p:cNvPr id="29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0E7137D-4F6F-6045-83D9-BE8BDD502E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41520641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TEGORY PERFORMANCE AND TOP 10 PRODUCTS">
            <a:extLst>
              <a:ext uri="{FF2B5EF4-FFF2-40B4-BE49-F238E27FC236}">
                <a16:creationId xmlns:a16="http://schemas.microsoft.com/office/drawing/2014/main" id="{DA449FB8-8372-4A68-9B02-2544D6CB438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CATEGORY PERFORMANCE</a:t>
            </a:r>
          </a:p>
        </p:txBody>
      </p:sp>
      <p:sp>
        <p:nvSpPr>
          <p:cNvPr id="2" name="Furniture leads value; Electronics leads volume">
            <a:extLst>
              <a:ext uri="{FF2B5EF4-FFF2-40B4-BE49-F238E27FC236}">
                <a16:creationId xmlns:a16="http://schemas.microsoft.com/office/drawing/2014/main" id="{B9681339-DF81-4DD9-9EDF-D4D10F172CB6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Furniture leads value; Electronics leads volume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02D6D1B-4D5C-4BC5-871B-0FFAAA27767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0DDCEEDA-C1FF-486C-B1C6-891C94B1FE8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BE2EE4D8-61A0-4778-88B1-4C77C90CFA3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09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Category analysis • Revenue and quantity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Category analysis • Revenue and quantity</a:t>
            </a:r>
          </a:p>
        </p:txBody>
      </p:sp>
      <p:sp>
        <p:nvSpPr>
          <p:cNvPr id="22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3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4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5" name="Furniture generates the highest revenue at ₹83.63M. Electronics l"/>
          <p:cNvSpPr txBox="1"/>
          <p:nvPr/>
        </p:nvSpPr>
        <p:spPr>
          <a:xfrm>
            <a:off x="609904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Furniture generates the highest revenue at ₹83.63M. Electronics leads quantity with 27,000 units.</a:t>
            </a:r>
          </a:p>
        </p:txBody>
      </p:sp>
      <p:sp>
        <p:nvSpPr>
          <p:cNvPr id="26" name="Furniture is the sales-value leader; Electronics is the volume le"/>
          <p:cNvSpPr txBox="1"/>
          <p:nvPr/>
        </p:nvSpPr>
        <p:spPr>
          <a:xfrm>
            <a:off x="4270248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Furniture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supplies 50.3% of revenue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; Electronics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supplies 40.0% of quantity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 Revenue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and volume leaders are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not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necessarily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profit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leaders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Keep Furniture stock available and move slow stock toward stronge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Keep Furniture stock available and move slow stock toward stronger demand to avoid missed sales and reduce holding costs.</a:t>
            </a:r>
          </a:p>
        </p:txBody>
      </p:sp>
      <p:cxnSp>
        <p:nvCxnSpPr>
          <p:cNvPr id="28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BD344439-73DC-1C4E-A3D5-5B28BA2E67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0605300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89102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TEGORY PERFORMANCE AND TOP 10 PRODUCTS">
            <a:extLst>
              <a:ext uri="{FF2B5EF4-FFF2-40B4-BE49-F238E27FC236}">
                <a16:creationId xmlns:a16="http://schemas.microsoft.com/office/drawing/2014/main" id="{DA449FB8-8372-4A68-9B02-2544D6CB438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TOP 10 PRODUCTS</a:t>
            </a:r>
          </a:p>
        </p:txBody>
      </p:sp>
      <p:sp>
        <p:nvSpPr>
          <p:cNvPr id="2" name="Furniture leads value; Electronics leads volume">
            <a:extLst>
              <a:ext uri="{FF2B5EF4-FFF2-40B4-BE49-F238E27FC236}">
                <a16:creationId xmlns:a16="http://schemas.microsoft.com/office/drawing/2014/main" id="{B9681339-DF81-4DD9-9EDF-D4D10F172CB6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Protect sales of Office Chair 044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02D6D1B-4D5C-4BC5-871B-0FFAAA27767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0DDCEEDA-C1FF-486C-B1C6-891C94B1FE8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BE2EE4D8-61A0-4778-88B1-4C77C90CFA3C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10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op products • Revenue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Top products • Revenue</a:t>
            </a:r>
          </a:p>
        </p:txBody>
      </p:sp>
      <p:sp>
        <p:nvSpPr>
          <p:cNvPr id="22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3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4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5" name="Office Chair 044 is the highest-revenue product, generating ₹9.40"/>
          <p:cNvSpPr txBox="1"/>
          <p:nvPr/>
        </p:nvSpPr>
        <p:spPr>
          <a:xfrm>
            <a:off x="609904" y="5010912"/>
            <a:ext cx="3246120" cy="76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Office Chair 044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leads at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₹9.40M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, followed by Office Chair 046 at ₹8.21M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" name="This product is an important sales driver. Stock-outs could put t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Eight of the top ten products are office chairs. Protecting their availability supports this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important revenue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base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7" name="Replenish Office Chair 044 and cross-sell related office products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Replenish Office Chair 044 and cross-sell related office products to capture more sales per purchase; price bundles to protect margin.</a:t>
            </a:r>
          </a:p>
        </p:txBody>
      </p:sp>
      <p:cxnSp>
        <p:nvCxnSpPr>
          <p:cNvPr id="28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DCCA388-1A30-424A-88AA-B7B9051132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6440701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GIONAL PERFORMANCE AND STATE CONTRIBUTION">
            <a:extLst>
              <a:ext uri="{FF2B5EF4-FFF2-40B4-BE49-F238E27FC236}">
                <a16:creationId xmlns:a16="http://schemas.microsoft.com/office/drawing/2014/main" id="{5AF75770-44AC-48A1-AB11-E8E477932A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REGIONAL </a:t>
            </a:r>
            <a:r>
              <a:rPr lang="en-IN"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REVENUE VS ORDERS</a:t>
            </a:r>
            <a:endParaRPr sz="1200" b="1">
              <a:solidFill>
                <a:srgbClr val="4476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outh leads revenue and order volume">
            <a:extLst>
              <a:ext uri="{FF2B5EF4-FFF2-40B4-BE49-F238E27FC236}">
                <a16:creationId xmlns:a16="http://schemas.microsoft.com/office/drawing/2014/main" id="{3355C920-47F8-4857-A0CD-E30D3351CE6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South leads sales; East leads order value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70BD1B2-7844-4334-A7A6-A0FAF2FBE5A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1A4D3C34-1BA0-4F09-A474-0E9E06EC938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F6FC935A-D693-42A6-BD1B-A0C31421A08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11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gional analysis • Revenue and orders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Regional analysis • Revenue and orders</a:t>
            </a:r>
          </a:p>
        </p:txBody>
      </p:sp>
      <p:sp>
        <p:nvSpPr>
          <p:cNvPr id="21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2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3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4" name="South leads with ₹47.46M revenue and the highest volume of 1,500 "/>
          <p:cNvSpPr txBox="1"/>
          <p:nvPr/>
        </p:nvSpPr>
        <p:spPr>
          <a:xfrm>
            <a:off x="609904" y="5010912"/>
            <a:ext cx="324612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South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: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₹47.46M and 1,500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orders. East: ₹45.17M and 1,000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orders.</a:t>
            </a:r>
          </a:p>
        </p:txBody>
      </p:sp>
      <p:sp>
        <p:nvSpPr>
          <p:cNvPr id="25" name="South is the strongest market by sales value and orders, making s"/>
          <p:cNvSpPr txBox="1"/>
          <p:nvPr/>
        </p:nvSpPr>
        <p:spPr>
          <a:xfrm>
            <a:off x="4270248" y="5010912"/>
            <a:ext cx="3246120" cy="7617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South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leads revenue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volume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,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but East earns more per order: ₹45,168 versus South’s ₹31,639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" name="Maintain South’s stock and sales support; test its successful tac"/>
          <p:cNvSpPr txBox="1"/>
          <p:nvPr/>
        </p:nvSpPr>
        <p:spPr>
          <a:xfrm>
            <a:off x="7927848" y="5010912"/>
            <a:ext cx="365760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Keep South well stocked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and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study East’s higher-value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sales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mix. Test suitable bundles elsewhere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to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lift order value while protecting margins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7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1AB37818-1920-EE49-B523-3BE7A364D8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1360533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87752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GIONAL PERFORMANCE AND STATE CONTRIBUTION">
            <a:extLst>
              <a:ext uri="{FF2B5EF4-FFF2-40B4-BE49-F238E27FC236}">
                <a16:creationId xmlns:a16="http://schemas.microsoft.com/office/drawing/2014/main" id="{5AF75770-44AC-48A1-AB11-E8E477932A23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TOP 5 STATES</a:t>
            </a:r>
          </a:p>
        </p:txBody>
      </p:sp>
      <p:sp>
        <p:nvSpPr>
          <p:cNvPr id="2" name="South leads revenue and order volume">
            <a:extLst>
              <a:ext uri="{FF2B5EF4-FFF2-40B4-BE49-F238E27FC236}">
                <a16:creationId xmlns:a16="http://schemas.microsoft.com/office/drawing/2014/main" id="{3355C920-47F8-4857-A0CD-E30D3351CE6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West Bengal leads the displayed states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70BD1B2-7844-4334-A7A6-A0FAF2FBE5AF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1A4D3C34-1BA0-4F09-A474-0E9E06EC938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F6FC935A-D693-42A6-BD1B-A0C31421A083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12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B978812E-68BB-9843-BFF2-A53F11F2B10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9827014"/>
              </p:ext>
            </p:extLst>
          </p:nvPr>
        </p:nvGraphicFramePr>
        <p:xfrm>
          <a:off x="2346959" y="1572768"/>
          <a:ext cx="7498079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tate contribution • Revenue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State contribution • Revenue</a:t>
            </a:r>
          </a:p>
        </p:txBody>
      </p:sp>
      <p:sp>
        <p:nvSpPr>
          <p:cNvPr id="25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6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7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8" name="West Bengal leads the displayed states at ₹29.38M; Kerala follows"/>
          <p:cNvSpPr txBox="1"/>
          <p:nvPr/>
        </p:nvSpPr>
        <p:spPr>
          <a:xfrm>
            <a:off x="609904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West Bengal leads the displayed states at ₹29.38M; Kerala follows at ₹26.05M.</a:t>
            </a:r>
          </a:p>
        </p:txBody>
      </p:sp>
      <p:sp>
        <p:nvSpPr>
          <p:cNvPr id="29" name="These states are important revenue contributors. Their demand sho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West Bengal and Kerala contribute 47.2% of the revenue shown across these five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states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—not 47.2% of total business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revenue.</a:t>
            </a:r>
          </a:p>
        </p:txBody>
      </p:sp>
      <p:sp>
        <p:nvSpPr>
          <p:cNvPr id="30" name="Prioritise stock for high-demand states and test targeted promoti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Prioritise stock for high-demand states and test targeted promotions to win sales; track fulfilment costs and margins before scaling.</a:t>
            </a:r>
          </a:p>
        </p:txBody>
      </p:sp>
      <p:cxnSp>
        <p:nvCxnSpPr>
          <p:cNvPr id="31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STOMER SEGMENTS AND PAYMENT METHODS">
            <a:extLst>
              <a:ext uri="{FF2B5EF4-FFF2-40B4-BE49-F238E27FC236}">
                <a16:creationId xmlns:a16="http://schemas.microsoft.com/office/drawing/2014/main" id="{846E404B-150B-4AE9-A22B-0BED152CB1F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CUSTOMER </a:t>
            </a:r>
            <a:r>
              <a:rPr lang="en-IN"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SEGMENT ANALYSIS</a:t>
            </a:r>
            <a:endParaRPr sz="1200" b="1">
              <a:solidFill>
                <a:srgbClr val="4476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tain Regular; grow Premium customer value">
            <a:extLst>
              <a:ext uri="{FF2B5EF4-FFF2-40B4-BE49-F238E27FC236}">
                <a16:creationId xmlns:a16="http://schemas.microsoft.com/office/drawing/2014/main" id="{4DBB883D-E6C0-46DD-A78F-8ED4C76431E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Retain Regular customers; grow Premium value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5CF6A44-8993-420B-9B3A-AF723BB4DD7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0D219CA0-4C2A-4F00-83A6-DD9509196C0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223E555E-F2F1-455B-89FF-8F90F45F8D0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13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Customer analysis • Revenue, orders and value per order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Customer analysis • Revenue, orders and value per order</a:t>
            </a:r>
          </a:p>
        </p:txBody>
      </p:sp>
      <p:sp>
        <p:nvSpPr>
          <p:cNvPr id="21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2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3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4" name="Regular customers: ₹83.65M from 2,500 orders. Premium has the hig"/>
          <p:cNvSpPr txBox="1"/>
          <p:nvPr/>
        </p:nvSpPr>
        <p:spPr>
          <a:xfrm>
            <a:off x="609904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Regular customers: ₹83.65M from 2,500 orders. Premium has the highest revenue per order at ₹35,972.</a:t>
            </a:r>
          </a:p>
        </p:txBody>
      </p:sp>
      <p:sp>
        <p:nvSpPr>
          <p:cNvPr id="25" name="Regular customers form the largest revenue base, while Premium cu"/>
          <p:cNvSpPr txBox="1"/>
          <p:nvPr/>
        </p:nvSpPr>
        <p:spPr>
          <a:xfrm>
            <a:off x="4270248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Regular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is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the largest revenue base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 Premium averages ₹35,972 per order versus Regular’s ₹33,462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,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supporting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higher-value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offers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" name="Use loyalty rewards for Regular customers and exclusive Premium b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Use loyalty rewards for Regular customers and exclusive Premium bundles to encourage repeat and higher-value purchases; cap discounts to protect profit.</a:t>
            </a:r>
          </a:p>
        </p:txBody>
      </p:sp>
      <p:cxnSp>
        <p:nvCxnSpPr>
          <p:cNvPr id="27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1F10ED8F-B2F9-1C44-B772-4795C42573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7945585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0273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STOMER SEGMENTS AND PAYMENT METHODS">
            <a:extLst>
              <a:ext uri="{FF2B5EF4-FFF2-40B4-BE49-F238E27FC236}">
                <a16:creationId xmlns:a16="http://schemas.microsoft.com/office/drawing/2014/main" id="{846E404B-150B-4AE9-A22B-0BED152CB1F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REVENUE BY PAYMENT METHOD</a:t>
            </a:r>
          </a:p>
        </p:txBody>
      </p:sp>
      <p:sp>
        <p:nvSpPr>
          <p:cNvPr id="2" name="Retain Regular; grow Premium customer value">
            <a:extLst>
              <a:ext uri="{FF2B5EF4-FFF2-40B4-BE49-F238E27FC236}">
                <a16:creationId xmlns:a16="http://schemas.microsoft.com/office/drawing/2014/main" id="{4DBB883D-E6C0-46DD-A78F-8ED4C76431E2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Payment revenue varies despite equal order counts</a:t>
            </a:r>
            <a:endParaRPr sz="3450" b="1" u="none">
              <a:solidFill>
                <a:srgbClr val="142D4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55CF6A44-8993-420B-9B3A-AF723BB4DD7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0D219CA0-4C2A-4F00-83A6-DD9509196C0A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223E555E-F2F1-455B-89FF-8F90F45F8D0B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14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ayment method analysis • Revenue"/>
          <p:cNvSpPr txBox="1"/>
          <p:nvPr/>
        </p:nvSpPr>
        <p:spPr>
          <a:xfrm>
            <a:off x="609904" y="1252728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Payment method analysis • Revenue</a:t>
            </a:r>
            <a:r>
              <a:rPr lang="en-IN"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 and orders</a:t>
            </a:r>
            <a:endParaRPr sz="1500" b="0">
              <a:solidFill>
                <a:srgbClr val="4476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2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3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4" name="Net Banking generates the highest payment-method revenue at ₹55.4"/>
          <p:cNvSpPr txBox="1"/>
          <p:nvPr/>
        </p:nvSpPr>
        <p:spPr>
          <a:xfrm>
            <a:off x="609904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Each method has 1,000 orders.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Net Banking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leads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revenue at ₹55.43M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; Cash on Delivery is lowest at ₹10.49M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5" name="Net Banking supports a major share of sales. Revenue alone does n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Revenue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differs because order values differ, not order counts. Net Banking’s lead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does not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prove lower fees or higher profitability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6" name="Keep Net Banking checkout reliable and review transaction fees an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Keep Net Banking reliable and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test higher-value bundles for lower-value baskets. Review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fees and margins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rather than pushing a method on revenue alone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cxnSp>
        <p:nvCxnSpPr>
          <p:cNvPr id="27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70F3DCF-3007-F941-AFE3-E8392565DE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5083038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RDER STATUS AND ORDER STATUS BY REGION">
            <a:extLst>
              <a:ext uri="{FF2B5EF4-FFF2-40B4-BE49-F238E27FC236}">
                <a16:creationId xmlns:a16="http://schemas.microsoft.com/office/drawing/2014/main" id="{2E506019-1B21-4D97-9DFC-1AD58A3EE14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2" name="Investigate Central-region fulfilment now">
            <a:extLst>
              <a:ext uri="{FF2B5EF4-FFF2-40B4-BE49-F238E27FC236}">
                <a16:creationId xmlns:a16="http://schemas.microsoft.com/office/drawing/2014/main" id="{11B52C9A-8C8D-4C63-9FC8-67147759F26B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lang="en-IN"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Turn more orders into successful deliveries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6EFF462-23BE-4170-AFD0-725AD0E1395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7ECA0146-B642-429E-805B-2E17724178A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27956B23-803E-4FFB-B3D4-71774A4ED6E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15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Delivered 3,106 • Shipped 778 • Processing 647 • Returned 252 • C"/>
          <p:cNvSpPr txBox="1"/>
          <p:nvPr/>
        </p:nvSpPr>
        <p:spPr>
          <a:xfrm>
            <a:off x="609904" y="1252728"/>
            <a:ext cx="109728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Delivered 3,106 • Shipped 778 • Processing 647 • Returned 252 • Cancelled 217</a:t>
            </a:r>
          </a:p>
        </p:txBody>
      </p:sp>
      <p:sp>
        <p:nvSpPr>
          <p:cNvPr id="21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2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3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4" name="3,106 of 5,000 orders were delivered, equal to 62.1%; the remaind"/>
          <p:cNvSpPr txBox="1"/>
          <p:nvPr/>
        </p:nvSpPr>
        <p:spPr>
          <a:xfrm>
            <a:off x="609904" y="5010912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3,106 of 5,000 orders were delivered, equal to 62.1%; the remainder have other statuses.</a:t>
            </a:r>
          </a:p>
        </p:txBody>
      </p:sp>
      <p:sp>
        <p:nvSpPr>
          <p:cNvPr id="25" name="Most orders are delivered, but processing, shipped, returned and 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28.5%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are shipped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or processing; 9.4% are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returned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or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cancelled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 Separate pending deliveries from failed or reversed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orders.</a:t>
            </a:r>
          </a:p>
        </p:txBody>
      </p:sp>
      <p:sp>
        <p:nvSpPr>
          <p:cNvPr id="26" name="Speed up processing and investigate return and cancellation cause"/>
          <p:cNvSpPr txBox="1"/>
          <p:nvPr/>
        </p:nvSpPr>
        <p:spPr>
          <a:xfrm>
            <a:off x="7927848" y="5010912"/>
            <a:ext cx="3657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Speed up processing and investigate return and cancellation causes to complete more sales and reduce avoidable handling costs.</a:t>
            </a:r>
          </a:p>
        </p:txBody>
      </p:sp>
      <p:cxnSp>
        <p:nvCxnSpPr>
          <p:cNvPr id="27" name="Chart and analysis separator"/>
          <p:cNvCxnSpPr/>
          <p:nvPr/>
        </p:nvCxnSpPr>
        <p:spPr>
          <a:xfrm>
            <a:off x="609904" y="4535424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E73A1929-F4DF-EA4E-B6D1-697C8C51B8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1759629"/>
              </p:ext>
            </p:extLst>
          </p:nvPr>
        </p:nvGraphicFramePr>
        <p:xfrm>
          <a:off x="2346959" y="1572768"/>
          <a:ext cx="7498079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71978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RDER STATUS AND ORDER STATUS BY REGION">
            <a:extLst>
              <a:ext uri="{FF2B5EF4-FFF2-40B4-BE49-F238E27FC236}">
                <a16:creationId xmlns:a16="http://schemas.microsoft.com/office/drawing/2014/main" id="{2E506019-1B21-4D97-9DFC-1AD58A3EE14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ORDER STATUS BY REGION</a:t>
            </a:r>
          </a:p>
        </p:txBody>
      </p:sp>
      <p:sp>
        <p:nvSpPr>
          <p:cNvPr id="2" name="Investigate Central-region fulfilment now">
            <a:extLst>
              <a:ext uri="{FF2B5EF4-FFF2-40B4-BE49-F238E27FC236}">
                <a16:creationId xmlns:a16="http://schemas.microsoft.com/office/drawing/2014/main" id="{11B52C9A-8C8D-4C63-9FC8-67147759F26B}"/>
              </a:ext>
            </a:extLst>
          </p:cNvPr>
          <p:cNvSpPr>
            <a:spLocks noGrp="1"/>
          </p:cNvSpPr>
          <p:nvPr/>
        </p:nvSpPr>
        <p:spPr>
          <a:xfrm>
            <a:off x="609904" y="640080"/>
            <a:ext cx="10972800" cy="594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 u="none">
                <a:solidFill>
                  <a:srgbClr val="142D4E"/>
                </a:solidFill>
                <a:latin typeface="Arial"/>
                <a:ea typeface="Arial"/>
                <a:cs typeface="Arial"/>
              </a:rPr>
              <a:t>Investigate Central-region fulfilment now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6EFF462-23BE-4170-AFD0-725AD0E1395C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7ECA0146-B642-429E-805B-2E17724178A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27956B23-803E-4FFB-B3D4-71774A4ED6ED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16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gional order status • Central: 500 orders in total"/>
          <p:cNvSpPr txBox="1"/>
          <p:nvPr/>
        </p:nvSpPr>
        <p:spPr>
          <a:xfrm>
            <a:off x="609904" y="1252728"/>
            <a:ext cx="109728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Regional order status • Central: 500 orders</a:t>
            </a:r>
            <a:r>
              <a:rPr lang="en-IN" sz="1500" b="0">
                <a:solidFill>
                  <a:srgbClr val="44769E"/>
                </a:solidFill>
                <a:latin typeface="Arial"/>
                <a:ea typeface="Arial"/>
                <a:cs typeface="Arial"/>
              </a:rPr>
              <a:t>; South: 1,500 orders</a:t>
            </a:r>
            <a:endParaRPr sz="1500" b="0">
              <a:solidFill>
                <a:srgbClr val="4476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OBSERVATION"/>
          <p:cNvSpPr txBox="1"/>
          <p:nvPr/>
        </p:nvSpPr>
        <p:spPr>
          <a:xfrm>
            <a:off x="609904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2" name="INTERPRETATION"/>
          <p:cNvSpPr txBox="1"/>
          <p:nvPr/>
        </p:nvSpPr>
        <p:spPr>
          <a:xfrm>
            <a:off x="4270248" y="4654296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3" name="RECOMMENDATION"/>
          <p:cNvSpPr txBox="1"/>
          <p:nvPr/>
        </p:nvSpPr>
        <p:spPr>
          <a:xfrm>
            <a:off x="7927848" y="4654296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24" name="Central has zero delivered orders; 389 of its 500 orders are ship"/>
          <p:cNvSpPr txBox="1"/>
          <p:nvPr/>
        </p:nvSpPr>
        <p:spPr>
          <a:xfrm>
            <a:off x="609904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Central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records no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delivered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count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; 389 of 500 orders are shipped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 South also has 389 shipped orders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5" name="This could reflect a serious delivery bottleneck or an order-stat"/>
          <p:cNvSpPr txBox="1"/>
          <p:nvPr/>
        </p:nvSpPr>
        <p:spPr>
          <a:xfrm>
            <a:off x="4270248" y="5010912"/>
            <a:ext cx="324612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Central’s Delivered cell is blank, not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explicit zero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. Verify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it; South’s delivered rate is only 51.7% (776 of 1,500).</a:t>
            </a:r>
            <a:endParaRPr sz="1650" b="0">
              <a:solidFill>
                <a:srgbClr val="142D4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Check Central shipments, partners and status updates immediately;"/>
          <p:cNvSpPr txBox="1"/>
          <p:nvPr/>
        </p:nvSpPr>
        <p:spPr>
          <a:xfrm>
            <a:off x="7927848" y="5010912"/>
            <a:ext cx="3657600" cy="10156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Verify Central’s blank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status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and trace its shipments first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;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review South’s backlog next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to complete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more 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sales and </a:t>
            </a:r>
            <a:r>
              <a:rPr lang="en-IN"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reduce avoidable</a:t>
            </a:r>
            <a:r>
              <a:rPr sz="1650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 support costs.</a:t>
            </a:r>
          </a:p>
        </p:txBody>
      </p:sp>
      <p:cxnSp>
        <p:nvCxnSpPr>
          <p:cNvPr id="27" name="Chart and analysis separator"/>
          <p:cNvCxnSpPr/>
          <p:nvPr/>
        </p:nvCxnSpPr>
        <p:spPr>
          <a:xfrm>
            <a:off x="609904" y="4569290"/>
            <a:ext cx="10972800" cy="0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Observation and interpretation separator"/>
          <p:cNvCxnSpPr/>
          <p:nvPr/>
        </p:nvCxnSpPr>
        <p:spPr>
          <a:xfrm>
            <a:off x="40233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Interpretation and recommendation separator"/>
          <p:cNvCxnSpPr/>
          <p:nvPr/>
        </p:nvCxnSpPr>
        <p:spPr>
          <a:xfrm>
            <a:off x="7680960" y="4654296"/>
            <a:ext cx="0" cy="1618488"/>
          </a:xfrm>
          <a:prstGeom prst="line">
            <a:avLst/>
          </a:prstGeom>
          <a:ln w="12383">
            <a:solidFill>
              <a:srgbClr val="C7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9CD3F26-3F53-BB48-AAB8-90903DB8AF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4571199"/>
              </p:ext>
            </p:extLst>
          </p:nvPr>
        </p:nvGraphicFramePr>
        <p:xfrm>
          <a:off x="1203959" y="1572768"/>
          <a:ext cx="9784080" cy="2816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SOLIDATED BUSINESS INSIGHTS">
            <a:extLst>
              <a:ext uri="{FF2B5EF4-FFF2-40B4-BE49-F238E27FC236}">
                <a16:creationId xmlns:a16="http://schemas.microsoft.com/office/drawing/2014/main" id="{31BA1B69-A93E-4F57-9522-E96C53AF17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BUSINESS INSIGHTS</a:t>
            </a:r>
          </a:p>
        </p:txBody>
      </p:sp>
      <p:sp>
        <p:nvSpPr>
          <p:cNvPr id="2" name="Six findings shape the business priorities">
            <a:extLst>
              <a:ext uri="{FF2B5EF4-FFF2-40B4-BE49-F238E27FC236}">
                <a16:creationId xmlns:a16="http://schemas.microsoft.com/office/drawing/2014/main" id="{70CA42E4-F1BD-4DBB-90C0-06FD6DD6876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Eight insights to guide business action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AB340DF-D790-43D4-9E29-D12D69BE7F6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980861D6-4E35-4CCF-B97C-DF071FBAF74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7CE40BAA-7113-4EF5-A1CB-20A4318632C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17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" name="Table 5"/>
          <p:cNvGraphicFramePr/>
          <p:nvPr>
            <p:extLst>
              <p:ext uri="{D42A27DB-BD31-4B8C-83A1-F6EECF244321}">
                <p14:modId xmlns:p14="http://schemas.microsoft.com/office/powerpoint/2010/main" val="1844222052"/>
              </p:ext>
            </p:extLst>
          </p:nvPr>
        </p:nvGraphicFramePr>
        <p:xfrm>
          <a:off x="609904" y="1508760"/>
          <a:ext cx="10972800" cy="4882896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137833535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19605034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#</a:t>
                      </a:r>
                    </a:p>
                  </a:txBody>
                  <a:tcPr marL="64008" marR="64008" marT="22860" marB="22860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area</a:t>
                      </a:r>
                    </a:p>
                  </a:txBody>
                  <a:tcPr marL="64008" marR="64008" marT="22860" marB="22860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marL="64008" marR="64008" marT="22860" marB="22860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64008" marR="64008" marT="22860" marB="22860" anchor="ctr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Recommendation</a:t>
                      </a:r>
                    </a:p>
                  </a:txBody>
                  <a:tcPr marL="64008" marR="64008" marT="22860" marB="22860" anchor="ctr"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Revenue growth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Revenue fell 2.14%
from 2024 to 2025.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A slight decline versus
the previous year.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Identify weak products, regions and periods; increase sales efforts there to recover revenue.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Regional
performance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South leads revenue
and order volume.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South is the strongest-
performing region.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Maintain South’s stock. Apply its successful sales strategies in weaker regions such as Central.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Category
performance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Furniture leads revenue;
Electronics leads quantity.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Furniture drives value;
Electronics drives volume.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Keep Furniture stock updated to avoid stock-outs. Shift excess slow-moving stock to higher-demand areas.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Customer
segment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Regular customers
generate the most revenue.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Regular customers support
continuous revenue.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Offer loyalty benefits and special offers to encourage more repeat purchases.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Monthly
revenue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December 2025 had the
highest monthly revenue.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Demand was particularly
high in this period.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Prepare inventory before similar peaks and use promotions to maximise sales.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Order
fulfilment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62% delivered; remaining
orders have other statuses.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Most complete; others cancelled,
processing, returned or shipped.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Reduce processing delays and investigate cancelled and returned orders to improve deliveries.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Order status
by region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Central has no recorded
Delivered count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Possible fulfilment or
order-status data issue.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Verify Central’s blank Delivered status, trace shipments and resolve confirmed delivery delays.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58857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Revenue
vs orders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Revenue and order volumes
fluctuate at different rates.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More orders need not mean
proportionally more revenue.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Promote higher-value products, bundles and cross-selling to increase revenue per order.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4339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SOLIDATED BUSINESS INSIGHTS">
            <a:extLst>
              <a:ext uri="{FF2B5EF4-FFF2-40B4-BE49-F238E27FC236}">
                <a16:creationId xmlns:a16="http://schemas.microsoft.com/office/drawing/2014/main" id="{31BA1B69-A93E-4F57-9522-E96C53AF170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CONSOLIDATED BUSINESS INSIGHTS</a:t>
            </a:r>
          </a:p>
        </p:txBody>
      </p:sp>
      <p:sp>
        <p:nvSpPr>
          <p:cNvPr id="2" name="Six findings shape the business priorities">
            <a:extLst>
              <a:ext uri="{FF2B5EF4-FFF2-40B4-BE49-F238E27FC236}">
                <a16:creationId xmlns:a16="http://schemas.microsoft.com/office/drawing/2014/main" id="{70CA42E4-F1BD-4DBB-90C0-06FD6DD6876A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Six findings shape the business priorities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6AB340DF-D790-43D4-9E29-D12D69BE7F6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980861D6-4E35-4CCF-B97C-DF071FBAF744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7CE40BAA-7113-4EF5-A1CB-20A4318632C9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18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" name="Table 5"/>
          <p:cNvGraphicFramePr/>
          <p:nvPr>
            <p:extLst>
              <p:ext uri="{D42A27DB-BD31-4B8C-83A1-F6EECF244321}">
                <p14:modId xmlns:p14="http://schemas.microsoft.com/office/powerpoint/2010/main" val="449710674"/>
              </p:ext>
            </p:extLst>
          </p:nvPr>
        </p:nvGraphicFramePr>
        <p:xfrm>
          <a:off x="609600" y="1876425"/>
          <a:ext cx="10972800" cy="4113168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46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FINDING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MEANING</a:t>
                      </a:r>
                    </a:p>
                  </a:txBody>
                  <a:tcPr>
                    <a:solidFill>
                      <a:srgbClr val="14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Revenue declined 2.14% in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Sales recovery actions are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South leads revenue and 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South is the strongest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Furniture leads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Furniture inventory is 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Regular customers lead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Retention is essential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December 2025 was the peak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Prepare for year-end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46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Fulfilment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Central has no recorded
Delivered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D4E"/>
                          </a:solidFill>
                          <a:latin typeface="Arial"/>
                          <a:ea typeface="Arial"/>
                          <a:cs typeface="Arial"/>
                        </a:rPr>
                        <a:t>Immediate investigation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4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OMMENDATIONS AND NEXT STEPS">
            <a:extLst>
              <a:ext uri="{FF2B5EF4-FFF2-40B4-BE49-F238E27FC236}">
                <a16:creationId xmlns:a16="http://schemas.microsoft.com/office/drawing/2014/main" id="{0F421781-140D-49F4-AB57-6F71BC97444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10477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RECOMMENDATIONS AND NEXT STEPS</a:t>
            </a:r>
          </a:p>
        </p:txBody>
      </p:sp>
      <p:sp>
        <p:nvSpPr>
          <p:cNvPr id="2" name="Prioritise fulfilment, retention, and recovery">
            <a:extLst>
              <a:ext uri="{FF2B5EF4-FFF2-40B4-BE49-F238E27FC236}">
                <a16:creationId xmlns:a16="http://schemas.microsoft.com/office/drawing/2014/main" id="{0DB3FA6E-A8B1-4886-815A-B4603CCB3679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9728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4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Prioritise fulfilment, retention, and recovery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B3D913F-E062-4AF7-B2CC-0655BF945F20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ARJUN AJI  /  RETAIL SALES ANALYSIS">
            <a:extLst>
              <a:ext uri="{FF2B5EF4-FFF2-40B4-BE49-F238E27FC236}">
                <a16:creationId xmlns:a16="http://schemas.microsoft.com/office/drawing/2014/main" id="{B3ED280A-A4B9-4ECF-B3D0-4D44CE4C45B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FF35DBA4-F4FF-4E3C-A7B7-A1DEAFA7458F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536879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536879"/>
                </a:solidFill>
                <a:latin typeface="Arial"/>
                <a:ea typeface="Arial"/>
                <a:cs typeface="Arial"/>
              </a:rPr>
              <a:t>19</a:t>
            </a:r>
            <a:endParaRPr sz="1050" b="0">
              <a:solidFill>
                <a:srgbClr val="53687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IMMEDIATE PRIORITIES">
            <a:extLst>
              <a:ext uri="{FF2B5EF4-FFF2-40B4-BE49-F238E27FC236}">
                <a16:creationId xmlns:a16="http://schemas.microsoft.com/office/drawing/2014/main" id="{004F57CA-C5F0-49A5-BFD0-EC5390E052D5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IMMEDIATE PRIORITIES</a:t>
            </a:r>
          </a:p>
        </p:txBody>
      </p:sp>
      <p:sp>
        <p:nvSpPr>
          <p:cNvPr id="7" name="01">
            <a:extLst>
              <a:ext uri="{FF2B5EF4-FFF2-40B4-BE49-F238E27FC236}">
                <a16:creationId xmlns:a16="http://schemas.microsoft.com/office/drawing/2014/main" id="{0AD863C8-28B4-451D-8920-FAFB7584AAD1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Investigate the Central-region delivery problem.">
            <a:extLst>
              <a:ext uri="{FF2B5EF4-FFF2-40B4-BE49-F238E27FC236}">
                <a16:creationId xmlns:a16="http://schemas.microsoft.com/office/drawing/2014/main" id="{6066F48B-9008-4B50-A701-3303ABE62F0E}"/>
              </a:ext>
            </a:extLst>
          </p:cNvPr>
          <p:cNvSpPr>
            <a:spLocks noGrp="1"/>
          </p:cNvSpPr>
          <p:nvPr/>
        </p:nvSpPr>
        <p:spPr>
          <a:xfrm>
            <a:off x="1171575" y="2324100"/>
            <a:ext cx="590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Investigate the Central-region delivery problem.</a:t>
            </a:r>
          </a:p>
        </p:txBody>
      </p:sp>
      <p:sp>
        <p:nvSpPr>
          <p:cNvPr id="9" name="02">
            <a:extLst>
              <a:ext uri="{FF2B5EF4-FFF2-40B4-BE49-F238E27FC236}">
                <a16:creationId xmlns:a16="http://schemas.microsoft.com/office/drawing/2014/main" id="{2D03E30E-497B-4707-8929-2A2526791102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Maintain Furniture stock and monitor Office Chair 044.">
            <a:extLst>
              <a:ext uri="{FF2B5EF4-FFF2-40B4-BE49-F238E27FC236}">
                <a16:creationId xmlns:a16="http://schemas.microsoft.com/office/drawing/2014/main" id="{82D16341-D6D0-4AB8-8C16-81C7ACBA0ABC}"/>
              </a:ext>
            </a:extLst>
          </p:cNvPr>
          <p:cNvSpPr>
            <a:spLocks noGrp="1"/>
          </p:cNvSpPr>
          <p:nvPr/>
        </p:nvSpPr>
        <p:spPr>
          <a:xfrm>
            <a:off x="1171575" y="2933700"/>
            <a:ext cx="590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Maintain Furniture stock and monitor Office Chair 044.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CF4518ED-9F6D-461E-8BCC-45E0E566CD33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Improve processing, cancellations, and return managemen">
            <a:extLst>
              <a:ext uri="{FF2B5EF4-FFF2-40B4-BE49-F238E27FC236}">
                <a16:creationId xmlns:a16="http://schemas.microsoft.com/office/drawing/2014/main" id="{D6BA7534-2EB2-4BD1-B5FB-23F5A279C4D3}"/>
              </a:ext>
            </a:extLst>
          </p:cNvPr>
          <p:cNvSpPr>
            <a:spLocks noGrp="1"/>
          </p:cNvSpPr>
          <p:nvPr/>
        </p:nvSpPr>
        <p:spPr>
          <a:xfrm>
            <a:off x="1171575" y="3543300"/>
            <a:ext cx="590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Improve processing, cancellations, and return management.</a:t>
            </a:r>
          </a:p>
        </p:txBody>
      </p:sp>
      <p:sp>
        <p:nvSpPr>
          <p:cNvPr id="13" name="04">
            <a:extLst>
              <a:ext uri="{FF2B5EF4-FFF2-40B4-BE49-F238E27FC236}">
                <a16:creationId xmlns:a16="http://schemas.microsoft.com/office/drawing/2014/main" id="{E2AFA0C9-5FEF-427F-8CA6-E29B36C2D0AF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Use loyalty offers for Regular customers.">
            <a:extLst>
              <a:ext uri="{FF2B5EF4-FFF2-40B4-BE49-F238E27FC236}">
                <a16:creationId xmlns:a16="http://schemas.microsoft.com/office/drawing/2014/main" id="{50751659-BFA2-473C-82A4-78168935696A}"/>
              </a:ext>
            </a:extLst>
          </p:cNvPr>
          <p:cNvSpPr>
            <a:spLocks noGrp="1"/>
          </p:cNvSpPr>
          <p:nvPr/>
        </p:nvSpPr>
        <p:spPr>
          <a:xfrm>
            <a:off x="1171575" y="4152900"/>
            <a:ext cx="590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Use loyalty offers for Regular customers.</a:t>
            </a:r>
          </a:p>
        </p:txBody>
      </p:sp>
      <p:sp>
        <p:nvSpPr>
          <p:cNvPr id="15" name="05">
            <a:extLst>
              <a:ext uri="{FF2B5EF4-FFF2-40B4-BE49-F238E27FC236}">
                <a16:creationId xmlns:a16="http://schemas.microsoft.com/office/drawing/2014/main" id="{A5EFF472-22DE-408B-AF20-695388B9C988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Build Premium offers for higher-value purchases.">
            <a:extLst>
              <a:ext uri="{FF2B5EF4-FFF2-40B4-BE49-F238E27FC236}">
                <a16:creationId xmlns:a16="http://schemas.microsoft.com/office/drawing/2014/main" id="{3ADDC9C3-0C74-4899-8666-6243ABEB2C5B}"/>
              </a:ext>
            </a:extLst>
          </p:cNvPr>
          <p:cNvSpPr>
            <a:spLocks noGrp="1"/>
          </p:cNvSpPr>
          <p:nvPr/>
        </p:nvSpPr>
        <p:spPr>
          <a:xfrm>
            <a:off x="1171575" y="4762500"/>
            <a:ext cx="590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Build Premium offers for higher-value purchases.</a:t>
            </a:r>
          </a:p>
        </p:txBody>
      </p:sp>
      <p:sp>
        <p:nvSpPr>
          <p:cNvPr id="17" name="06">
            <a:extLst>
              <a:ext uri="{FF2B5EF4-FFF2-40B4-BE49-F238E27FC236}">
                <a16:creationId xmlns:a16="http://schemas.microsoft.com/office/drawing/2014/main" id="{FAD81082-95C6-480B-8E99-F4DB34303AC4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4286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8" name="Prepare stock and promotions for year-end demand.">
            <a:extLst>
              <a:ext uri="{FF2B5EF4-FFF2-40B4-BE49-F238E27FC236}">
                <a16:creationId xmlns:a16="http://schemas.microsoft.com/office/drawing/2014/main" id="{8B42EC30-7E84-48A5-BFD8-CF04E1D9FE63}"/>
              </a:ext>
            </a:extLst>
          </p:cNvPr>
          <p:cNvSpPr>
            <a:spLocks noGrp="1"/>
          </p:cNvSpPr>
          <p:nvPr/>
        </p:nvSpPr>
        <p:spPr>
          <a:xfrm>
            <a:off x="1171575" y="5372100"/>
            <a:ext cx="59055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Prepare stock and promotions for year-end demand.</a:t>
            </a:r>
          </a:p>
        </p:txBody>
      </p:sp>
      <p:sp>
        <p:nvSpPr>
          <p:cNvPr id="19" name="NEXT STEPS">
            <a:extLst>
              <a:ext uri="{FF2B5EF4-FFF2-40B4-BE49-F238E27FC236}">
                <a16:creationId xmlns:a16="http://schemas.microsoft.com/office/drawing/2014/main" id="{F01861AD-F1DC-477C-BE9D-7A1C7306FE63}"/>
              </a:ext>
            </a:extLst>
          </p:cNvPr>
          <p:cNvSpPr>
            <a:spLocks noGrp="1"/>
          </p:cNvSpPr>
          <p:nvPr/>
        </p:nvSpPr>
        <p:spPr>
          <a:xfrm>
            <a:off x="7943850" y="1819275"/>
            <a:ext cx="36385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>
                <a:solidFill>
                  <a:srgbClr val="44769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4769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F824B9E-E591-41D6-A48C-D12708DCC004}"/>
              </a:ext>
            </a:extLst>
          </p:cNvPr>
          <p:cNvSpPr>
            <a:spLocks noGrp="1"/>
          </p:cNvSpPr>
          <p:nvPr/>
        </p:nvSpPr>
        <p:spPr>
          <a:xfrm>
            <a:off x="7943850" y="2266950"/>
            <a:ext cx="3638550" cy="0"/>
          </a:xfrm>
          <a:prstGeom prst="line">
            <a:avLst/>
          </a:prstGeom>
          <a:noFill/>
          <a:ln w="12383">
            <a:solidFill>
              <a:srgbClr val="C7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fresh">
            <a:extLst>
              <a:ext uri="{FF2B5EF4-FFF2-40B4-BE49-F238E27FC236}">
                <a16:creationId xmlns:a16="http://schemas.microsoft.com/office/drawing/2014/main" id="{D857013B-7E8B-427B-88CA-A7906AF6320C}"/>
              </a:ext>
            </a:extLst>
          </p:cNvPr>
          <p:cNvSpPr>
            <a:spLocks noGrp="1"/>
          </p:cNvSpPr>
          <p:nvPr/>
        </p:nvSpPr>
        <p:spPr>
          <a:xfrm>
            <a:off x="7943850" y="2533650"/>
            <a:ext cx="36385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22" name="Update the dashboard regularly with new data.">
            <a:extLst>
              <a:ext uri="{FF2B5EF4-FFF2-40B4-BE49-F238E27FC236}">
                <a16:creationId xmlns:a16="http://schemas.microsoft.com/office/drawing/2014/main" id="{8F62873E-D06D-4B27-B29E-0EF26090A6D1}"/>
              </a:ext>
            </a:extLst>
          </p:cNvPr>
          <p:cNvSpPr>
            <a:spLocks noGrp="1"/>
          </p:cNvSpPr>
          <p:nvPr/>
        </p:nvSpPr>
        <p:spPr>
          <a:xfrm>
            <a:off x="7943850" y="2962275"/>
            <a:ext cx="3638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Update the dashboard regularly with new data.</a:t>
            </a:r>
          </a:p>
        </p:txBody>
      </p:sp>
      <p:sp>
        <p:nvSpPr>
          <p:cNvPr id="23" name="Track">
            <a:extLst>
              <a:ext uri="{FF2B5EF4-FFF2-40B4-BE49-F238E27FC236}">
                <a16:creationId xmlns:a16="http://schemas.microsoft.com/office/drawing/2014/main" id="{24ADF1AA-FA43-4EFD-8FED-993D8D225039}"/>
              </a:ext>
            </a:extLst>
          </p:cNvPr>
          <p:cNvSpPr>
            <a:spLocks noGrp="1"/>
          </p:cNvSpPr>
          <p:nvPr/>
        </p:nvSpPr>
        <p:spPr>
          <a:xfrm>
            <a:off x="7943850" y="3810000"/>
            <a:ext cx="36385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4" name="Monitor revenue per order and delivery rates by region.">
            <a:extLst>
              <a:ext uri="{FF2B5EF4-FFF2-40B4-BE49-F238E27FC236}">
                <a16:creationId xmlns:a16="http://schemas.microsoft.com/office/drawing/2014/main" id="{A2D06D40-E509-464E-B5F1-91A2E0742DF5}"/>
              </a:ext>
            </a:extLst>
          </p:cNvPr>
          <p:cNvSpPr>
            <a:spLocks noGrp="1"/>
          </p:cNvSpPr>
          <p:nvPr/>
        </p:nvSpPr>
        <p:spPr>
          <a:xfrm>
            <a:off x="7943850" y="4238625"/>
            <a:ext cx="363855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Monitor revenue per order and delivery rates by region.</a:t>
            </a:r>
          </a:p>
        </p:txBody>
      </p:sp>
      <p:sp>
        <p:nvSpPr>
          <p:cNvPr id="25" name="Review">
            <a:extLst>
              <a:ext uri="{FF2B5EF4-FFF2-40B4-BE49-F238E27FC236}">
                <a16:creationId xmlns:a16="http://schemas.microsoft.com/office/drawing/2014/main" id="{3912AC81-C7A5-499E-ADCC-0C5000261FB0}"/>
              </a:ext>
            </a:extLst>
          </p:cNvPr>
          <p:cNvSpPr>
            <a:spLocks noGrp="1"/>
          </p:cNvSpPr>
          <p:nvPr/>
        </p:nvSpPr>
        <p:spPr>
          <a:xfrm>
            <a:off x="7943850" y="5076825"/>
            <a:ext cx="36385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D4E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6" name="Recheck Central status after corrective action.">
            <a:extLst>
              <a:ext uri="{FF2B5EF4-FFF2-40B4-BE49-F238E27FC236}">
                <a16:creationId xmlns:a16="http://schemas.microsoft.com/office/drawing/2014/main" id="{69FD106C-737D-4423-9B4F-CAE4BF242D1C}"/>
              </a:ext>
            </a:extLst>
          </p:cNvPr>
          <p:cNvSpPr>
            <a:spLocks noGrp="1"/>
          </p:cNvSpPr>
          <p:nvPr/>
        </p:nvSpPr>
        <p:spPr>
          <a:xfrm>
            <a:off x="7943850" y="5505450"/>
            <a:ext cx="36385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142D4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E"/>
                </a:solidFill>
                <a:latin typeface="Arial"/>
                <a:ea typeface="Arial"/>
                <a:cs typeface="Arial"/>
              </a:rPr>
              <a:t>Recheck Central status after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1600598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D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35A66B2-70A8-4105-B724-E5195691C9EB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0"/>
          </a:xfrm>
          <a:prstGeom prst="line">
            <a:avLst/>
          </a:prstGeom>
          <a:noFill/>
          <a:ln w="12383">
            <a:solidFill>
              <a:srgbClr val="4476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ARJUN AJI  /  RETAIL SALES ANALYSIS">
            <a:extLst>
              <a:ext uri="{FF2B5EF4-FFF2-40B4-BE49-F238E27FC236}">
                <a16:creationId xmlns:a16="http://schemas.microsoft.com/office/drawing/2014/main" id="{7DE8D414-2D0B-443B-B550-8FAAB80B4587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7620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5E1"/>
                </a:solidFill>
                <a:latin typeface="Arial"/>
                <a:ea typeface="Arial"/>
                <a:cs typeface="Arial"/>
              </a:rPr>
              <a:t>ARJUN AJI  /  RETAIL SALES ANALYSIS</a:t>
            </a: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50FB9C76-A432-424B-8925-ADD65ED79022}"/>
              </a:ext>
            </a:extLst>
          </p:cNvPr>
          <p:cNvSpPr>
            <a:spLocks noGrp="1"/>
          </p:cNvSpPr>
          <p:nvPr/>
        </p:nvSpPr>
        <p:spPr>
          <a:xfrm>
            <a:off x="10953750" y="6534150"/>
            <a:ext cx="628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lang="en-IN" sz="1050" b="0">
                <a:solidFill>
                  <a:srgbClr val="C7D5E1"/>
                </a:solidFill>
                <a:latin typeface="Arial"/>
                <a:ea typeface="Arial"/>
                <a:cs typeface="Arial"/>
              </a:rPr>
              <a:t>20</a:t>
            </a:r>
            <a:endParaRPr sz="1050" b="0">
              <a:solidFill>
                <a:srgbClr val="C7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hank You">
            <a:extLst>
              <a:ext uri="{FF2B5EF4-FFF2-40B4-BE49-F238E27FC236}">
                <a16:creationId xmlns:a16="http://schemas.microsoft.com/office/drawing/2014/main" id="{456E9C62-C5E8-49AB-925E-A5450CE7982D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5" name="Questions and Discussion">
            <a:extLst>
              <a:ext uri="{FF2B5EF4-FFF2-40B4-BE49-F238E27FC236}">
                <a16:creationId xmlns:a16="http://schemas.microsoft.com/office/drawing/2014/main" id="{1105131C-83A7-4BF7-A044-CC5BB95F3A7F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6" name="Arjun Aji  |  Junior Data Analyst">
            <a:extLst>
              <a:ext uri="{FF2B5EF4-FFF2-40B4-BE49-F238E27FC236}">
                <a16:creationId xmlns:a16="http://schemas.microsoft.com/office/drawing/2014/main" id="{E51B5F0D-E760-4CFB-B53E-9BD2FEA0B114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0">
                <a:solidFill>
                  <a:srgbClr val="C7D5E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7D5E1"/>
                </a:solidFill>
                <a:latin typeface="Arial"/>
                <a:ea typeface="Arial"/>
                <a:cs typeface="Arial"/>
              </a:rPr>
              <a:t>Arjun Aji  |  Junior Data Analyst</a:t>
            </a:r>
          </a:p>
        </p:txBody>
      </p:sp>
    </p:spTree>
    <p:extLst>
      <p:ext uri="{BB962C8B-B14F-4D97-AF65-F5344CB8AC3E}">
        <p14:creationId xmlns:p14="http://schemas.microsoft.com/office/powerpoint/2010/main" val="20250345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4245</Words>
  <Application>Microsoft Macintosh PowerPoint</Application>
  <PresentationFormat>Widescreen</PresentationFormat>
  <Paragraphs>401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ArJuN Aji</dc:creator>
  <cp:lastModifiedBy>ArJuN Aji</cp:lastModifiedBy>
  <cp:revision>1</cp:revision>
  <dcterms:created xsi:type="dcterms:W3CDTF">2026-09-11T08:25:45Z</dcterms:created>
  <dcterms:modified xsi:type="dcterms:W3CDTF">2026-09-11T10:29:10Z</dcterms:modified>
</cp:coreProperties>
</file>